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Freesentation 4 Regular" pitchFamily="2" charset="-127"/>
      <p:regular r:id="rId12"/>
    </p:embeddedFont>
    <p:embeddedFont>
      <p:font typeface="Freesentation 5 Medium" pitchFamily="2" charset="-127"/>
      <p:regular r:id="rId13"/>
    </p:embeddedFont>
    <p:embeddedFont>
      <p:font typeface="Freesentation 6 SemiBold" pitchFamily="2" charset="-127"/>
      <p:regular r:id="rId14"/>
      <p:bold r:id="rId15"/>
    </p:embeddedFont>
    <p:embeddedFont>
      <p:font typeface="Freesentation 7 Bold" pitchFamily="2" charset="-127"/>
      <p:bold r:id="rId16"/>
    </p:embeddedFont>
    <p:embeddedFont>
      <p:font typeface="Freesentation 8 ExtraBold" pitchFamily="2" charset="-127"/>
      <p:bold r:id="rId17"/>
    </p:embeddedFont>
    <p:embeddedFont>
      <p:font typeface="Noto Sans Kr" panose="020B0200000000000000" pitchFamily="34" charset="-128"/>
      <p:regular r:id="rId18"/>
    </p:embeddedFont>
    <p:embeddedFont>
      <p:font typeface="Noto Sans Kr Bold" panose="020B0200000000000000" pitchFamily="34" charset="-128"/>
      <p:regular r:id="rId19"/>
      <p:bold r:id="rId20"/>
    </p:embeddedFont>
    <p:embeddedFont>
      <p:font typeface="Red Hat Display Bold" panose="02010803040201060303" pitchFamily="2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589" autoAdjust="0"/>
  </p:normalViewPr>
  <p:slideViewPr>
    <p:cSldViewPr>
      <p:cViewPr varScale="1">
        <p:scale>
          <a:sx n="80" d="100"/>
          <a:sy n="80" d="100"/>
        </p:scale>
        <p:origin x="4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jpe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fkIqEELGQus?feature=oembe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sv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12" Type="http://schemas.openxmlformats.org/officeDocument/2006/relationships/image" Target="../media/image48.png"/><Relationship Id="rId17" Type="http://schemas.openxmlformats.org/officeDocument/2006/relationships/image" Target="../media/image53.sv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7.svg"/><Relationship Id="rId5" Type="http://schemas.openxmlformats.org/officeDocument/2006/relationships/image" Target="../media/image41.svg"/><Relationship Id="rId15" Type="http://schemas.openxmlformats.org/officeDocument/2006/relationships/image" Target="../media/image51.svg"/><Relationship Id="rId10" Type="http://schemas.openxmlformats.org/officeDocument/2006/relationships/image" Target="../media/image46.png"/><Relationship Id="rId4" Type="http://schemas.openxmlformats.org/officeDocument/2006/relationships/image" Target="../media/image40.svg"/><Relationship Id="rId9" Type="http://schemas.openxmlformats.org/officeDocument/2006/relationships/image" Target="../media/image45.svg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19.png"/><Relationship Id="rId18" Type="http://schemas.openxmlformats.org/officeDocument/2006/relationships/image" Target="../media/image59.svg"/><Relationship Id="rId3" Type="http://schemas.openxmlformats.org/officeDocument/2006/relationships/image" Target="../media/image14.jpeg"/><Relationship Id="rId21" Type="http://schemas.openxmlformats.org/officeDocument/2006/relationships/image" Target="../media/image26.png"/><Relationship Id="rId7" Type="http://schemas.openxmlformats.org/officeDocument/2006/relationships/image" Target="../media/image23.png"/><Relationship Id="rId12" Type="http://schemas.openxmlformats.org/officeDocument/2006/relationships/image" Target="../media/image13.svg"/><Relationship Id="rId17" Type="http://schemas.openxmlformats.org/officeDocument/2006/relationships/image" Target="../media/image11.svg"/><Relationship Id="rId2" Type="http://schemas.openxmlformats.org/officeDocument/2006/relationships/image" Target="../media/image54.jpeg"/><Relationship Id="rId16" Type="http://schemas.openxmlformats.org/officeDocument/2006/relationships/image" Target="../media/image10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11" Type="http://schemas.openxmlformats.org/officeDocument/2006/relationships/image" Target="../media/image12.png"/><Relationship Id="rId5" Type="http://schemas.openxmlformats.org/officeDocument/2006/relationships/image" Target="../media/image16.svg"/><Relationship Id="rId15" Type="http://schemas.openxmlformats.org/officeDocument/2006/relationships/image" Target="../media/image58.png"/><Relationship Id="rId10" Type="http://schemas.openxmlformats.org/officeDocument/2006/relationships/image" Target="../media/image22.jpeg"/><Relationship Id="rId19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57.svg"/><Relationship Id="rId14" Type="http://schemas.openxmlformats.org/officeDocument/2006/relationships/image" Target="../media/image20.svg"/><Relationship Id="rId22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6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761235">
            <a:off x="-1064297" y="3823265"/>
            <a:ext cx="12165259" cy="12576866"/>
          </a:xfrm>
          <a:custGeom>
            <a:avLst/>
            <a:gdLst/>
            <a:ahLst/>
            <a:cxnLst/>
            <a:rect l="l" t="t" r="r" b="b"/>
            <a:pathLst>
              <a:path w="12165259" h="12576866">
                <a:moveTo>
                  <a:pt x="0" y="0"/>
                </a:moveTo>
                <a:lnTo>
                  <a:pt x="12165259" y="0"/>
                </a:lnTo>
                <a:lnTo>
                  <a:pt x="12165259" y="12576865"/>
                </a:lnTo>
                <a:lnTo>
                  <a:pt x="0" y="12576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-4879642" y="-7298272"/>
            <a:ext cx="15825915" cy="12660732"/>
          </a:xfrm>
          <a:custGeom>
            <a:avLst/>
            <a:gdLst/>
            <a:ahLst/>
            <a:cxnLst/>
            <a:rect l="l" t="t" r="r" b="b"/>
            <a:pathLst>
              <a:path w="15825915" h="12660732">
                <a:moveTo>
                  <a:pt x="0" y="0"/>
                </a:moveTo>
                <a:lnTo>
                  <a:pt x="15825915" y="0"/>
                </a:lnTo>
                <a:lnTo>
                  <a:pt x="15825915" y="12660732"/>
                </a:lnTo>
                <a:lnTo>
                  <a:pt x="0" y="12660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2553546" y="2928704"/>
            <a:ext cx="5734454" cy="4007384"/>
            <a:chOff x="0" y="0"/>
            <a:chExt cx="7645939" cy="534317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6"/>
            <a:srcRect l="2330" r="2330"/>
            <a:stretch>
              <a:fillRect/>
            </a:stretch>
          </p:blipFill>
          <p:spPr>
            <a:xfrm>
              <a:off x="0" y="0"/>
              <a:ext cx="7645939" cy="5343179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9371342" y="-344438"/>
            <a:ext cx="4075082" cy="3078500"/>
            <a:chOff x="0" y="0"/>
            <a:chExt cx="5433442" cy="4104667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7"/>
            <a:srcRect l="5407" r="5407"/>
            <a:stretch>
              <a:fillRect/>
            </a:stretch>
          </p:blipFill>
          <p:spPr>
            <a:xfrm>
              <a:off x="0" y="0"/>
              <a:ext cx="5433442" cy="4104667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9371342" y="8539803"/>
            <a:ext cx="2958558" cy="2031092"/>
            <a:chOff x="0" y="0"/>
            <a:chExt cx="3944744" cy="2708122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8"/>
            <a:srcRect l="20553" t="37160" r="3886" b="28495"/>
            <a:stretch>
              <a:fillRect/>
            </a:stretch>
          </p:blipFill>
          <p:spPr>
            <a:xfrm>
              <a:off x="0" y="0"/>
              <a:ext cx="3944744" cy="2708122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5746282" y="7141701"/>
            <a:ext cx="3361695" cy="3429194"/>
            <a:chOff x="0" y="0"/>
            <a:chExt cx="4482260" cy="4572258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9"/>
            <a:srcRect l="17322" r="17322"/>
            <a:stretch>
              <a:fillRect/>
            </a:stretch>
          </p:blipFill>
          <p:spPr>
            <a:xfrm>
              <a:off x="0" y="0"/>
              <a:ext cx="4482260" cy="4572258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12553546" y="7151575"/>
            <a:ext cx="2976805" cy="3429194"/>
            <a:chOff x="0" y="0"/>
            <a:chExt cx="3969074" cy="4572258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10"/>
            <a:srcRect l="21055" r="21055"/>
            <a:stretch>
              <a:fillRect/>
            </a:stretch>
          </p:blipFill>
          <p:spPr>
            <a:xfrm>
              <a:off x="0" y="0"/>
              <a:ext cx="3969074" cy="4572258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13708969" y="-344438"/>
            <a:ext cx="6053230" cy="3078500"/>
            <a:chOff x="0" y="0"/>
            <a:chExt cx="8070974" cy="4104667"/>
          </a:xfrm>
        </p:grpSpPr>
        <p:sp>
          <p:nvSpPr>
            <p:cNvPr id="15" name="AutoShape 15"/>
            <p:cNvSpPr/>
            <p:nvPr/>
          </p:nvSpPr>
          <p:spPr>
            <a:xfrm>
              <a:off x="0" y="0"/>
              <a:ext cx="8070974" cy="4104632"/>
            </a:xfrm>
            <a:prstGeom prst="rect">
              <a:avLst/>
            </a:prstGeom>
            <a:solidFill>
              <a:srgbClr val="00C2E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81400"/>
              <a:ext cx="3412183" cy="3583082"/>
            </a:xfrm>
            <a:custGeom>
              <a:avLst/>
              <a:gdLst/>
              <a:ahLst/>
              <a:cxnLst/>
              <a:rect l="l" t="t" r="r" b="b"/>
              <a:pathLst>
                <a:path w="3412183" h="3583082">
                  <a:moveTo>
                    <a:pt x="0" y="0"/>
                  </a:moveTo>
                  <a:lnTo>
                    <a:pt x="3412183" y="0"/>
                  </a:lnTo>
                  <a:lnTo>
                    <a:pt x="3412183" y="3583082"/>
                  </a:lnTo>
                  <a:lnTo>
                    <a:pt x="0" y="3583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-17011" t="-20608" r="-5526" b="-3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Freeform 17"/>
            <p:cNvSpPr/>
            <p:nvPr/>
          </p:nvSpPr>
          <p:spPr>
            <a:xfrm rot="-5400000">
              <a:off x="2598436" y="289943"/>
              <a:ext cx="3932705" cy="3696743"/>
            </a:xfrm>
            <a:custGeom>
              <a:avLst/>
              <a:gdLst/>
              <a:ahLst/>
              <a:cxnLst/>
              <a:rect l="l" t="t" r="r" b="b"/>
              <a:pathLst>
                <a:path w="3932705" h="3696743">
                  <a:moveTo>
                    <a:pt x="0" y="0"/>
                  </a:moveTo>
                  <a:lnTo>
                    <a:pt x="3932705" y="0"/>
                  </a:lnTo>
                  <a:lnTo>
                    <a:pt x="3932705" y="3696743"/>
                  </a:lnTo>
                  <a:lnTo>
                    <a:pt x="0" y="3696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-14348" t="-1602" r="-33590" b="-2430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40013" y="1966591"/>
              <a:ext cx="3786935" cy="653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37"/>
                </a:lnSpc>
                <a:spcBef>
                  <a:spcPct val="0"/>
                </a:spcBef>
              </a:pPr>
              <a:r>
                <a:rPr lang="en-US" sz="2824" b="1" dirty="0">
                  <a:solidFill>
                    <a:srgbClr val="023E9F"/>
                  </a:solidFill>
                  <a:latin typeface="Red Hat Display Bold"/>
                  <a:ea typeface="Freesentation 4 Regular" pitchFamily="2" charset="-127"/>
                  <a:cs typeface="Red Hat Display Bold"/>
                  <a:sym typeface="Red Hat Display Bold"/>
                </a:rPr>
                <a:t>Train Smarter!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71342" y="2928704"/>
            <a:ext cx="2972654" cy="5289667"/>
            <a:chOff x="0" y="0"/>
            <a:chExt cx="3963538" cy="7052890"/>
          </a:xfrm>
        </p:grpSpPr>
        <p:sp>
          <p:nvSpPr>
            <p:cNvPr id="20" name="Freeform 20"/>
            <p:cNvSpPr/>
            <p:nvPr/>
          </p:nvSpPr>
          <p:spPr>
            <a:xfrm>
              <a:off x="0" y="1072"/>
              <a:ext cx="3963538" cy="7051817"/>
            </a:xfrm>
            <a:custGeom>
              <a:avLst/>
              <a:gdLst/>
              <a:ahLst/>
              <a:cxnLst/>
              <a:rect l="l" t="t" r="r" b="b"/>
              <a:pathLst>
                <a:path w="3963538" h="7051817">
                  <a:moveTo>
                    <a:pt x="0" y="0"/>
                  </a:moveTo>
                  <a:lnTo>
                    <a:pt x="3963538" y="0"/>
                  </a:lnTo>
                  <a:lnTo>
                    <a:pt x="3963538" y="7051818"/>
                  </a:lnTo>
                  <a:lnTo>
                    <a:pt x="0" y="7051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20858" r="-46017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0"/>
              <a:ext cx="3963538" cy="7044901"/>
              <a:chOff x="0" y="0"/>
              <a:chExt cx="2227447" cy="39591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227447" cy="3959125"/>
              </a:xfrm>
              <a:custGeom>
                <a:avLst/>
                <a:gdLst/>
                <a:ahLst/>
                <a:cxnLst/>
                <a:rect l="l" t="t" r="r" b="b"/>
                <a:pathLst>
                  <a:path w="2227447" h="3959125">
                    <a:moveTo>
                      <a:pt x="0" y="0"/>
                    </a:moveTo>
                    <a:lnTo>
                      <a:pt x="2227447" y="0"/>
                    </a:lnTo>
                    <a:lnTo>
                      <a:pt x="2227447" y="3959125"/>
                    </a:lnTo>
                    <a:lnTo>
                      <a:pt x="0" y="3959125"/>
                    </a:lnTo>
                    <a:close/>
                  </a:path>
                </a:pathLst>
              </a:custGeom>
              <a:solidFill>
                <a:srgbClr val="023E9F">
                  <a:alpha val="84706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2184539" y="4080171"/>
              <a:ext cx="1778999" cy="2972719"/>
            </a:xfrm>
            <a:custGeom>
              <a:avLst/>
              <a:gdLst/>
              <a:ahLst/>
              <a:cxnLst/>
              <a:rect l="l" t="t" r="r" b="b"/>
              <a:pathLst>
                <a:path w="1778999" h="2972719">
                  <a:moveTo>
                    <a:pt x="0" y="0"/>
                  </a:moveTo>
                  <a:lnTo>
                    <a:pt x="1778999" y="0"/>
                  </a:lnTo>
                  <a:lnTo>
                    <a:pt x="1778999" y="2972719"/>
                  </a:lnTo>
                  <a:lnTo>
                    <a:pt x="0" y="297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r="-66189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24"/>
            <p:cNvSpPr/>
            <p:nvPr/>
          </p:nvSpPr>
          <p:spPr>
            <a:xfrm flipH="1">
              <a:off x="378243" y="4080171"/>
              <a:ext cx="2956504" cy="2972719"/>
            </a:xfrm>
            <a:custGeom>
              <a:avLst/>
              <a:gdLst/>
              <a:ahLst/>
              <a:cxnLst/>
              <a:rect l="l" t="t" r="r" b="b"/>
              <a:pathLst>
                <a:path w="2956504" h="2972719">
                  <a:moveTo>
                    <a:pt x="2956504" y="0"/>
                  </a:moveTo>
                  <a:lnTo>
                    <a:pt x="0" y="0"/>
                  </a:lnTo>
                  <a:lnTo>
                    <a:pt x="0" y="2972719"/>
                  </a:lnTo>
                  <a:lnTo>
                    <a:pt x="2956504" y="2972719"/>
                  </a:lnTo>
                  <a:lnTo>
                    <a:pt x="2956504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529493" y="6219183"/>
              <a:ext cx="1005226" cy="453266"/>
            </a:xfrm>
            <a:custGeom>
              <a:avLst/>
              <a:gdLst/>
              <a:ahLst/>
              <a:cxnLst/>
              <a:rect l="l" t="t" r="r" b="b"/>
              <a:pathLst>
                <a:path w="1005226" h="453266">
                  <a:moveTo>
                    <a:pt x="0" y="0"/>
                  </a:moveTo>
                  <a:lnTo>
                    <a:pt x="1005225" y="0"/>
                  </a:lnTo>
                  <a:lnTo>
                    <a:pt x="1005225" y="453266"/>
                  </a:lnTo>
                  <a:lnTo>
                    <a:pt x="0" y="4532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9493" y="536054"/>
              <a:ext cx="2479359" cy="2362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2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Your</a:t>
              </a:r>
            </a:p>
            <a:p>
              <a:pPr algn="l">
                <a:lnSpc>
                  <a:spcPts val="352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AI </a:t>
              </a:r>
            </a:p>
            <a:p>
              <a:pPr algn="l">
                <a:lnSpc>
                  <a:spcPts val="352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Personal</a:t>
              </a:r>
            </a:p>
            <a:p>
              <a:pPr algn="l">
                <a:lnSpc>
                  <a:spcPts val="3520"/>
                </a:lnSpc>
              </a:pPr>
              <a:r>
                <a:rPr lang="en-US" sz="3200" b="1" dirty="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Trainer</a:t>
              </a:r>
            </a:p>
          </p:txBody>
        </p:sp>
      </p:grpSp>
      <p:sp>
        <p:nvSpPr>
          <p:cNvPr id="27" name="Freeform 27"/>
          <p:cNvSpPr/>
          <p:nvPr/>
        </p:nvSpPr>
        <p:spPr>
          <a:xfrm rot="-5400000">
            <a:off x="15682536" y="3261228"/>
            <a:ext cx="2937989" cy="2272939"/>
          </a:xfrm>
          <a:custGeom>
            <a:avLst/>
            <a:gdLst/>
            <a:ahLst/>
            <a:cxnLst/>
            <a:rect l="l" t="t" r="r" b="b"/>
            <a:pathLst>
              <a:path w="2937989" h="2272939">
                <a:moveTo>
                  <a:pt x="0" y="0"/>
                </a:moveTo>
                <a:lnTo>
                  <a:pt x="2937989" y="0"/>
                </a:lnTo>
                <a:lnTo>
                  <a:pt x="2937989" y="2272940"/>
                </a:lnTo>
                <a:lnTo>
                  <a:pt x="0" y="22729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r="-33166" b="-37704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 rot="-5400000">
            <a:off x="12604389" y="4671603"/>
            <a:ext cx="2209162" cy="2319807"/>
          </a:xfrm>
          <a:custGeom>
            <a:avLst/>
            <a:gdLst/>
            <a:ahLst/>
            <a:cxnLst/>
            <a:rect l="l" t="t" r="r" b="b"/>
            <a:pathLst>
              <a:path w="2209162" h="2319807">
                <a:moveTo>
                  <a:pt x="0" y="0"/>
                </a:moveTo>
                <a:lnTo>
                  <a:pt x="2209161" y="0"/>
                </a:lnTo>
                <a:lnTo>
                  <a:pt x="2209161" y="2319807"/>
                </a:lnTo>
                <a:lnTo>
                  <a:pt x="0" y="23198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17011" t="-20608" r="-5526" b="-32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878505" y="3013814"/>
            <a:ext cx="8706019" cy="334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dirty="0" err="1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실시간</a:t>
            </a:r>
            <a:r>
              <a:rPr lang="en-US" sz="9600" dirty="0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 </a:t>
            </a:r>
            <a:r>
              <a:rPr lang="en-US" sz="9600" dirty="0" err="1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헬스</a:t>
            </a:r>
            <a:r>
              <a:rPr lang="en-US" sz="9600" dirty="0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 </a:t>
            </a:r>
            <a:r>
              <a:rPr lang="en-US" sz="9600" dirty="0" err="1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자세</a:t>
            </a:r>
            <a:endParaRPr lang="en-US" sz="9600" dirty="0">
              <a:solidFill>
                <a:srgbClr val="FFFFFF"/>
              </a:solidFill>
              <a:latin typeface="Freesentation 8 ExtraBold" pitchFamily="2" charset="-127"/>
              <a:ea typeface="Freesentation 8 ExtraBold" pitchFamily="2" charset="-127"/>
              <a:cs typeface="Red Hat Display Bold"/>
              <a:sym typeface="Red Hat Display Bold"/>
            </a:endParaRPr>
          </a:p>
          <a:p>
            <a:pPr algn="l">
              <a:lnSpc>
                <a:spcPts val="13439"/>
              </a:lnSpc>
            </a:pPr>
            <a:r>
              <a:rPr lang="en-US" sz="9600" dirty="0" err="1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분석</a:t>
            </a:r>
            <a:r>
              <a:rPr lang="en-US" sz="9600" dirty="0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 </a:t>
            </a:r>
            <a:r>
              <a:rPr lang="en-US" sz="9600" dirty="0" err="1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및</a:t>
            </a:r>
            <a:r>
              <a:rPr lang="en-US" sz="9600" dirty="0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 </a:t>
            </a:r>
            <a:r>
              <a:rPr lang="en-US" sz="9600" dirty="0" err="1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교정</a:t>
            </a:r>
            <a:r>
              <a:rPr lang="en-US" sz="9600" dirty="0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 </a:t>
            </a:r>
            <a:r>
              <a:rPr lang="en-US" sz="9600" dirty="0" err="1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Red Hat Display Bold"/>
                <a:sym typeface="Red Hat Display Bold"/>
              </a:rPr>
              <a:t>앱</a:t>
            </a:r>
            <a:endParaRPr lang="en-US" sz="9600" dirty="0">
              <a:solidFill>
                <a:srgbClr val="FFFFFF"/>
              </a:solidFill>
              <a:latin typeface="Freesentation 8 ExtraBold" pitchFamily="2" charset="-127"/>
              <a:ea typeface="Freesentation 8 ExtraBold" pitchFamily="2" charset="-127"/>
              <a:cs typeface="Red Hat Display Bold"/>
              <a:sym typeface="Red Hat Display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90537" y="7595814"/>
            <a:ext cx="7072272" cy="460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컴퓨터공학과</a:t>
            </a:r>
            <a:r>
              <a:rPr lang="en-US" sz="2800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 | </a:t>
            </a:r>
            <a:r>
              <a:rPr lang="en-US" sz="2800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장수영</a:t>
            </a:r>
            <a:r>
              <a:rPr lang="en-US" sz="2800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 </a:t>
            </a:r>
            <a:r>
              <a:rPr lang="en-US" sz="2800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교수님</a:t>
            </a:r>
            <a:endParaRPr lang="en-US" sz="2800" dirty="0">
              <a:solidFill>
                <a:srgbClr val="FFFFFF"/>
              </a:solidFill>
              <a:latin typeface="Freesentation 4 Regular" pitchFamily="2" charset="-127"/>
              <a:ea typeface="Freesentation 4 Regular" pitchFamily="2" charset="-127"/>
              <a:cs typeface="Red Hat Display"/>
              <a:sym typeface="Red Hat Display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90537" y="8195158"/>
            <a:ext cx="7231953" cy="1272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20237142 </a:t>
            </a:r>
            <a:r>
              <a:rPr lang="en-US" sz="2399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전</a:t>
            </a:r>
            <a:r>
              <a:rPr lang="en-US" sz="2399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 </a:t>
            </a:r>
            <a:r>
              <a:rPr lang="en-US" sz="2399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준</a:t>
            </a:r>
            <a:endParaRPr lang="en-US" sz="2399" dirty="0">
              <a:solidFill>
                <a:srgbClr val="FFFFFF"/>
              </a:solidFill>
              <a:latin typeface="Freesentation 4 Regular" pitchFamily="2" charset="-127"/>
              <a:ea typeface="Freesentation 4 Regular" pitchFamily="2" charset="-127"/>
              <a:cs typeface="Red Hat Display"/>
              <a:sym typeface="Red Hat Display"/>
            </a:endParaRPr>
          </a:p>
          <a:p>
            <a:pPr algn="l">
              <a:lnSpc>
                <a:spcPts val="3359"/>
              </a:lnSpc>
            </a:pPr>
            <a:r>
              <a:rPr lang="en-US" sz="2399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20237134 서진정</a:t>
            </a:r>
          </a:p>
          <a:p>
            <a:pPr algn="l">
              <a:lnSpc>
                <a:spcPts val="3359"/>
              </a:lnSpc>
            </a:pPr>
            <a:r>
              <a:rPr lang="en-US" sz="2399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20211936 </a:t>
            </a:r>
            <a:r>
              <a:rPr lang="en-US" sz="2399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Red Hat Display"/>
                <a:sym typeface="Red Hat Display"/>
              </a:rPr>
              <a:t>최한민</a:t>
            </a:r>
            <a:endParaRPr lang="en-US" sz="2399" dirty="0">
              <a:solidFill>
                <a:srgbClr val="FFFFFF"/>
              </a:solidFill>
              <a:latin typeface="Freesentation 4 Regular" pitchFamily="2" charset="-127"/>
              <a:ea typeface="Freesentation 4 Regular" pitchFamily="2" charset="-127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6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369199">
            <a:off x="5747580" y="-342335"/>
            <a:ext cx="15825915" cy="12660732"/>
          </a:xfrm>
          <a:custGeom>
            <a:avLst/>
            <a:gdLst/>
            <a:ahLst/>
            <a:cxnLst/>
            <a:rect l="l" t="t" r="r" b="b"/>
            <a:pathLst>
              <a:path w="15825915" h="12660732">
                <a:moveTo>
                  <a:pt x="0" y="0"/>
                </a:moveTo>
                <a:lnTo>
                  <a:pt x="15825915" y="0"/>
                </a:lnTo>
                <a:lnTo>
                  <a:pt x="15825915" y="12660732"/>
                </a:lnTo>
                <a:lnTo>
                  <a:pt x="0" y="1266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 rot="-2966356">
            <a:off x="-3769917" y="-3938458"/>
            <a:ext cx="9157999" cy="9467856"/>
          </a:xfrm>
          <a:custGeom>
            <a:avLst/>
            <a:gdLst/>
            <a:ahLst/>
            <a:cxnLst/>
            <a:rect l="l" t="t" r="r" b="b"/>
            <a:pathLst>
              <a:path w="9157999" h="9467856">
                <a:moveTo>
                  <a:pt x="0" y="0"/>
                </a:moveTo>
                <a:lnTo>
                  <a:pt x="9157999" y="0"/>
                </a:lnTo>
                <a:lnTo>
                  <a:pt x="9157999" y="9467856"/>
                </a:lnTo>
                <a:lnTo>
                  <a:pt x="0" y="9467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028700"/>
            <a:ext cx="5933946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 dirty="0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Content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878517"/>
              </p:ext>
            </p:extLst>
          </p:nvPr>
        </p:nvGraphicFramePr>
        <p:xfrm>
          <a:off x="9144000" y="2910534"/>
          <a:ext cx="8697008" cy="5105400"/>
        </p:xfrm>
        <a:graphic>
          <a:graphicData uri="http://schemas.openxmlformats.org/drawingml/2006/table">
            <a:tbl>
              <a:tblPr/>
              <a:tblGrid>
                <a:gridCol w="1289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7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108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Red Hat Display Bold"/>
                          <a:ea typeface="Red Hat Display Bold"/>
                          <a:cs typeface="Red Hat Display Bold"/>
                          <a:sym typeface="Red Hat Display Bold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800" u="none" dirty="0" err="1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문제</a:t>
                      </a:r>
                      <a:r>
                        <a:rPr lang="en-US" sz="2800" u="none" dirty="0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 </a:t>
                      </a:r>
                      <a:r>
                        <a:rPr lang="en-US" sz="2800" u="none" dirty="0" err="1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정의</a:t>
                      </a:r>
                      <a:endParaRPr lang="en-US" sz="1200" u="none" dirty="0">
                        <a:latin typeface="Freesentation 4 Regular" pitchFamily="2" charset="-127"/>
                        <a:ea typeface="Freesentation 4 Regular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Red Hat Display Bold"/>
                          <a:ea typeface="Red Hat Display Bold"/>
                          <a:cs typeface="Red Hat Display Bold"/>
                          <a:sym typeface="Red Hat Display Bold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800" u="none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해결 아이디어</a:t>
                      </a:r>
                      <a:endParaRPr lang="en-US" sz="1200" u="none">
                        <a:latin typeface="Freesentation 4 Regular" pitchFamily="2" charset="-127"/>
                        <a:ea typeface="Freesentation 4 Regular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Red Hat Display Bold"/>
                          <a:ea typeface="Red Hat Display Bold"/>
                          <a:cs typeface="Red Hat Display Bold"/>
                          <a:sym typeface="Red Hat Display Bold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800" u="none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시스템 아키텍처</a:t>
                      </a:r>
                      <a:endParaRPr lang="en-US" sz="1200" u="none">
                        <a:latin typeface="Freesentation 4 Regular" pitchFamily="2" charset="-127"/>
                        <a:ea typeface="Freesentation 4 Regular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Red Hat Display Bold"/>
                          <a:ea typeface="Red Hat Display Bold"/>
                          <a:cs typeface="Red Hat Display Bold"/>
                          <a:sym typeface="Red Hat Display Bold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800" u="none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핵심 기술 스택</a:t>
                      </a:r>
                      <a:endParaRPr lang="en-US" sz="1200" u="none">
                        <a:latin typeface="Freesentation 4 Regular" pitchFamily="2" charset="-127"/>
                        <a:ea typeface="Freesentation 4 Regular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108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Red Hat Display Bold"/>
                          <a:ea typeface="Red Hat Display Bold"/>
                          <a:cs typeface="Red Hat Display Bold"/>
                          <a:sym typeface="Red Hat Display Bold"/>
                        </a:rPr>
                        <a:t>5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800" u="none" dirty="0" err="1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개발</a:t>
                      </a:r>
                      <a:r>
                        <a:rPr lang="en-US" sz="2800" u="none" dirty="0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 </a:t>
                      </a:r>
                      <a:r>
                        <a:rPr lang="en-US" sz="2800" u="none" dirty="0" err="1">
                          <a:solidFill>
                            <a:srgbClr val="FFFFFF"/>
                          </a:solidFill>
                          <a:latin typeface="Freesentation 4 Regular" pitchFamily="2" charset="-127"/>
                          <a:ea typeface="Freesentation 4 Regular" pitchFamily="2" charset="-127"/>
                          <a:cs typeface="Red Hat Display"/>
                          <a:sym typeface="Red Hat Display"/>
                        </a:rPr>
                        <a:t>계획</a:t>
                      </a:r>
                      <a:endParaRPr lang="en-US" sz="1200" u="none" dirty="0">
                        <a:latin typeface="Freesentation 4 Regular" pitchFamily="2" charset="-127"/>
                        <a:ea typeface="Freesentation 4 Regular" pitchFamily="2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76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294530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문제</a:t>
            </a:r>
            <a:r>
              <a:rPr lang="en-US" sz="54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정의</a:t>
            </a:r>
            <a:endParaRPr lang="en-US" sz="5400" b="1" dirty="0">
              <a:solidFill>
                <a:srgbClr val="023E9F"/>
              </a:solidFill>
              <a:latin typeface="Freesentation 7 Bold" pitchFamily="2" charset="-127"/>
              <a:ea typeface="Freesentation 7 Bold" pitchFamily="2" charset="-127"/>
              <a:cs typeface="Red Hat Display Bold"/>
              <a:sym typeface="Red Hat Display Bold"/>
            </a:endParaRPr>
          </a:p>
        </p:txBody>
      </p:sp>
      <p:pic>
        <p:nvPicPr>
          <p:cNvPr id="6" name="온라인 미디어 5" descr="스쿼트, 놓치기 쉬운 4가지 포인트">
            <a:hlinkClick r:id="" action="ppaction://media"/>
            <a:extLst>
              <a:ext uri="{FF2B5EF4-FFF2-40B4-BE49-F238E27FC236}">
                <a16:creationId xmlns:a16="http://schemas.microsoft.com/office/drawing/2014/main" id="{F5B64BFA-9421-992F-2886-0A92426D21A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791200" y="-48890"/>
            <a:ext cx="5867400" cy="103847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11407" y="8202726"/>
            <a:ext cx="382525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잘못된 자세로 운동 시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근골격계 부상 위험 증가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802047" y="2961818"/>
            <a:ext cx="4940735" cy="4744508"/>
            <a:chOff x="0" y="0"/>
            <a:chExt cx="189871" cy="1823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871" cy="182330"/>
            </a:xfrm>
            <a:custGeom>
              <a:avLst/>
              <a:gdLst/>
              <a:ahLst/>
              <a:cxnLst/>
              <a:rect l="l" t="t" r="r" b="b"/>
              <a:pathLst>
                <a:path w="189871" h="182330">
                  <a:moveTo>
                    <a:pt x="94935" y="0"/>
                  </a:moveTo>
                  <a:cubicBezTo>
                    <a:pt x="42504" y="0"/>
                    <a:pt x="0" y="40816"/>
                    <a:pt x="0" y="91165"/>
                  </a:cubicBezTo>
                  <a:cubicBezTo>
                    <a:pt x="0" y="141514"/>
                    <a:pt x="42504" y="182330"/>
                    <a:pt x="94935" y="182330"/>
                  </a:cubicBezTo>
                  <a:cubicBezTo>
                    <a:pt x="147367" y="182330"/>
                    <a:pt x="189871" y="141514"/>
                    <a:pt x="189871" y="91165"/>
                  </a:cubicBezTo>
                  <a:cubicBezTo>
                    <a:pt x="189871" y="40816"/>
                    <a:pt x="147367" y="0"/>
                    <a:pt x="94935" y="0"/>
                  </a:cubicBezTo>
                  <a:close/>
                </a:path>
              </a:pathLst>
            </a:custGeom>
            <a:solidFill>
              <a:srgbClr val="023E9F"/>
            </a:solidFill>
            <a:ln w="38100" cap="sq">
              <a:solidFill>
                <a:srgbClr val="023E9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800" y="7568"/>
              <a:ext cx="154270" cy="157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437737" y="8201025"/>
            <a:ext cx="382525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개인 트레이너 비용 부담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홈트레이닝 피드백 불가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167992" y="8202726"/>
            <a:ext cx="371899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모션캡처·고가센서장비</a:t>
            </a:r>
            <a:endParaRPr lang="en-US" sz="3000" dirty="0">
              <a:solidFill>
                <a:srgbClr val="023E9F"/>
              </a:solidFill>
              <a:latin typeface="Freesentation 4 Regular" pitchFamily="2" charset="-127"/>
              <a:ea typeface="Freesentation 4 Regular" pitchFamily="2" charset="-127"/>
              <a:cs typeface="Noto Sans Kr"/>
              <a:sym typeface="Noto Sans Kr"/>
            </a:endParaRPr>
          </a:p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일반</a:t>
            </a:r>
            <a:r>
              <a:rPr lang="en-US" sz="3000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000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사용자</a:t>
            </a:r>
            <a:r>
              <a:rPr lang="en-US" sz="3000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000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접근</a:t>
            </a:r>
            <a:r>
              <a:rPr lang="en-US" sz="3000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000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불가</a:t>
            </a:r>
            <a:endParaRPr lang="en-US" sz="3000" dirty="0">
              <a:solidFill>
                <a:srgbClr val="023E9F"/>
              </a:solidFill>
              <a:latin typeface="Freesentation 4 Regular" pitchFamily="2" charset="-127"/>
              <a:ea typeface="Freesentation 4 Regular" pitchFamily="2" charset="-127"/>
              <a:cs typeface="Noto Sans Kr"/>
              <a:sym typeface="Noto Sans Kr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148692" y="3017866"/>
            <a:ext cx="4950685" cy="4707101"/>
            <a:chOff x="0" y="0"/>
            <a:chExt cx="189871" cy="18052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9871" cy="180529"/>
            </a:xfrm>
            <a:custGeom>
              <a:avLst/>
              <a:gdLst/>
              <a:ahLst/>
              <a:cxnLst/>
              <a:rect l="l" t="t" r="r" b="b"/>
              <a:pathLst>
                <a:path w="189871" h="180529">
                  <a:moveTo>
                    <a:pt x="94935" y="0"/>
                  </a:moveTo>
                  <a:cubicBezTo>
                    <a:pt x="42504" y="0"/>
                    <a:pt x="0" y="40413"/>
                    <a:pt x="0" y="90264"/>
                  </a:cubicBezTo>
                  <a:cubicBezTo>
                    <a:pt x="0" y="140116"/>
                    <a:pt x="42504" y="180529"/>
                    <a:pt x="94935" y="180529"/>
                  </a:cubicBezTo>
                  <a:cubicBezTo>
                    <a:pt x="147367" y="180529"/>
                    <a:pt x="189871" y="140116"/>
                    <a:pt x="189871" y="90264"/>
                  </a:cubicBezTo>
                  <a:cubicBezTo>
                    <a:pt x="189871" y="40413"/>
                    <a:pt x="147367" y="0"/>
                    <a:pt x="94935" y="0"/>
                  </a:cubicBezTo>
                  <a:close/>
                </a:path>
              </a:pathLst>
            </a:custGeom>
            <a:solidFill>
              <a:srgbClr val="00C2E4"/>
            </a:solidFill>
            <a:ln w="38100" cap="sq">
              <a:solidFill>
                <a:srgbClr val="00C2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00" y="7400"/>
              <a:ext cx="154270" cy="156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90759" y="4729176"/>
            <a:ext cx="4066552" cy="109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6"/>
              </a:lnSpc>
            </a:pPr>
            <a:r>
              <a:rPr lang="en-US" sz="6600" b="1" dirty="0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Noto Sans Kr Bold"/>
                <a:sym typeface="Noto Sans Kr Bold"/>
              </a:rPr>
              <a:t>564,845건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96779" y="5930625"/>
            <a:ext cx="1049925" cy="41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442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in 2024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70113" y="6601086"/>
            <a:ext cx="1303259" cy="22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380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(</a:t>
            </a:r>
            <a:r>
              <a:rPr lang="en-US" sz="1380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injuryfacts.ncs</a:t>
            </a:r>
            <a:r>
              <a:rPr lang="en-US" sz="1380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0219" y="4242532"/>
            <a:ext cx="2787630" cy="58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4"/>
              </a:lnSpc>
            </a:pPr>
            <a:r>
              <a:rPr lang="en-US" sz="3410" b="1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운동</a:t>
            </a:r>
            <a:r>
              <a:rPr lang="en-US" sz="3410" b="1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 </a:t>
            </a:r>
            <a:r>
              <a:rPr lang="en-US" sz="3410" b="1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관련</a:t>
            </a:r>
            <a:r>
              <a:rPr lang="en-US" sz="3410" b="1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 </a:t>
            </a:r>
            <a:r>
              <a:rPr lang="en-US" sz="3410" b="1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부상</a:t>
            </a:r>
            <a:endParaRPr lang="en-US" sz="3410" b="1" dirty="0">
              <a:solidFill>
                <a:srgbClr val="FFFFFF"/>
              </a:solidFill>
              <a:latin typeface="Freesentation 4 Regular" pitchFamily="2" charset="-127"/>
              <a:ea typeface="Freesentation 4 Regular" pitchFamily="2" charset="-127"/>
              <a:cs typeface="Noto Sans Kr Bold"/>
              <a:sym typeface="Noto Sans Kr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81836" y="4339310"/>
            <a:ext cx="4066552" cy="116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6"/>
              </a:lnSpc>
            </a:pPr>
            <a:r>
              <a:rPr lang="en-US" sz="6600" b="1" dirty="0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Noto Sans Kr Bold"/>
                <a:sym typeface="Noto Sans Kr Bold"/>
              </a:rPr>
              <a:t>73.1%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24534" y="3920660"/>
            <a:ext cx="3981156" cy="495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4"/>
              </a:lnSpc>
            </a:pPr>
            <a:r>
              <a:rPr lang="en-US" sz="3010" b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헬스장의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371431" y="3101293"/>
            <a:ext cx="4940735" cy="4623674"/>
            <a:chOff x="0" y="0"/>
            <a:chExt cx="189871" cy="17768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9871" cy="177686"/>
            </a:xfrm>
            <a:custGeom>
              <a:avLst/>
              <a:gdLst/>
              <a:ahLst/>
              <a:cxnLst/>
              <a:rect l="l" t="t" r="r" b="b"/>
              <a:pathLst>
                <a:path w="189871" h="177686">
                  <a:moveTo>
                    <a:pt x="94935" y="0"/>
                  </a:moveTo>
                  <a:cubicBezTo>
                    <a:pt x="42504" y="0"/>
                    <a:pt x="0" y="39776"/>
                    <a:pt x="0" y="88843"/>
                  </a:cubicBezTo>
                  <a:cubicBezTo>
                    <a:pt x="0" y="137910"/>
                    <a:pt x="42504" y="177686"/>
                    <a:pt x="94935" y="177686"/>
                  </a:cubicBezTo>
                  <a:cubicBezTo>
                    <a:pt x="147367" y="177686"/>
                    <a:pt x="189871" y="137910"/>
                    <a:pt x="189871" y="88843"/>
                  </a:cubicBezTo>
                  <a:cubicBezTo>
                    <a:pt x="189871" y="39776"/>
                    <a:pt x="147367" y="0"/>
                    <a:pt x="94935" y="0"/>
                  </a:cubicBezTo>
                  <a:close/>
                </a:path>
              </a:pathLst>
            </a:custGeom>
            <a:solidFill>
              <a:srgbClr val="1764DF"/>
            </a:solidFill>
            <a:ln w="38100" cap="sq">
              <a:solidFill>
                <a:srgbClr val="1764D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800" y="7133"/>
              <a:ext cx="154270" cy="153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324534" y="5603504"/>
            <a:ext cx="3981156" cy="96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4"/>
              </a:lnSpc>
            </a:pPr>
            <a:r>
              <a:rPr lang="en-US" sz="2810" b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이 감독없는 </a:t>
            </a:r>
          </a:p>
          <a:p>
            <a:pPr algn="ctr">
              <a:lnSpc>
                <a:spcPts val="3934"/>
              </a:lnSpc>
            </a:pPr>
            <a:r>
              <a:rPr lang="en-US" sz="2810" b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운동에서 발생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50610" y="6776366"/>
            <a:ext cx="2599510" cy="22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38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(Journal of Sports Medicine)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51221" y="4405985"/>
            <a:ext cx="3981156" cy="495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4"/>
              </a:lnSpc>
            </a:pPr>
            <a:r>
              <a:rPr lang="en-US" sz="3010" b="1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모션</a:t>
            </a:r>
            <a:r>
              <a:rPr lang="ko-KR" altLang="en-US" sz="3010" b="1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캡</a:t>
            </a:r>
            <a:r>
              <a:rPr lang="en-US" sz="3010" b="1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처</a:t>
            </a:r>
            <a:r>
              <a:rPr lang="en-US" sz="3010" b="1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 </a:t>
            </a:r>
            <a:r>
              <a:rPr lang="en-US" sz="3010" b="1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 Bold"/>
                <a:sym typeface="Noto Sans Kr Bold"/>
              </a:rPr>
              <a:t>장비</a:t>
            </a:r>
            <a:endParaRPr lang="en-US" sz="3010" b="1" dirty="0">
              <a:solidFill>
                <a:srgbClr val="FFFFFF"/>
              </a:solidFill>
              <a:latin typeface="Freesentation 4 Regular" pitchFamily="2" charset="-127"/>
              <a:ea typeface="Freesentation 4 Regular" pitchFamily="2" charset="-127"/>
              <a:cs typeface="Noto Sans Kr Bold"/>
              <a:sym typeface="Noto Sans Kr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834614" y="4889392"/>
            <a:ext cx="4066552" cy="1098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66"/>
              </a:lnSpc>
            </a:pPr>
            <a:r>
              <a:rPr lang="en-US" sz="6600" b="1" dirty="0">
                <a:solidFill>
                  <a:srgbClr val="FFFFFF"/>
                </a:solidFill>
                <a:latin typeface="Freesentation 8 ExtraBold" pitchFamily="2" charset="-127"/>
                <a:ea typeface="Freesentation 8 ExtraBold" pitchFamily="2" charset="-127"/>
                <a:cs typeface="Noto Sans Kr Bold"/>
                <a:sym typeface="Noto Sans Kr Bold"/>
              </a:rPr>
              <a:t>$100,000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067014" y="6240724"/>
            <a:ext cx="1549542" cy="22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2"/>
              </a:lnSpc>
            </a:pPr>
            <a:r>
              <a:rPr lang="en-US" sz="1380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(Vicon </a:t>
            </a:r>
            <a:r>
              <a:rPr lang="en-US" sz="1380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공식</a:t>
            </a:r>
            <a:r>
              <a:rPr lang="en-US" sz="1380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1380" dirty="0" err="1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자료</a:t>
            </a:r>
            <a:r>
              <a:rPr lang="en-US" sz="1380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63383" y="5500205"/>
            <a:ext cx="779317" cy="247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2"/>
              </a:lnSpc>
            </a:pPr>
            <a:r>
              <a:rPr lang="en-US" sz="1480" dirty="0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Max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2EF44A24-888C-4F77-589E-65B1B221EF76}"/>
              </a:ext>
            </a:extLst>
          </p:cNvPr>
          <p:cNvSpPr txBox="1"/>
          <p:nvPr/>
        </p:nvSpPr>
        <p:spPr>
          <a:xfrm>
            <a:off x="1101220" y="1048143"/>
            <a:ext cx="294530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문제</a:t>
            </a:r>
            <a:r>
              <a:rPr lang="en-US" sz="54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정의</a:t>
            </a:r>
            <a:endParaRPr lang="en-US" sz="5400" b="1" dirty="0">
              <a:solidFill>
                <a:srgbClr val="023E9F"/>
              </a:solidFill>
              <a:latin typeface="Freesentation 7 Bold" pitchFamily="2" charset="-127"/>
              <a:ea typeface="Freesentation 7 Bold" pitchFamily="2" charset="-127"/>
              <a:cs typeface="Red Hat Display Bold"/>
              <a:sym typeface="Red Hat Display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8590871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60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해결</a:t>
            </a:r>
            <a:r>
              <a:rPr lang="en-US" sz="60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60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아이디어</a:t>
            </a:r>
            <a:r>
              <a:rPr lang="en-US" sz="60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- AI </a:t>
            </a:r>
            <a:r>
              <a:rPr lang="en-US" sz="60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운동</a:t>
            </a:r>
            <a:r>
              <a:rPr lang="en-US" sz="60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60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코칭</a:t>
            </a:r>
            <a:r>
              <a:rPr lang="en-US" sz="60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60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앱</a:t>
            </a:r>
            <a:endParaRPr lang="en-US" sz="6000" b="1" dirty="0">
              <a:solidFill>
                <a:srgbClr val="023E9F"/>
              </a:solidFill>
              <a:latin typeface="Freesentation 7 Bold" pitchFamily="2" charset="-127"/>
              <a:ea typeface="Freesentation 7 Bold" pitchFamily="2" charset="-127"/>
              <a:cs typeface="Red Hat Display Bold"/>
              <a:sym typeface="Red Hat Display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2381552"/>
            <a:ext cx="3116655" cy="6275144"/>
            <a:chOff x="0" y="0"/>
            <a:chExt cx="4155540" cy="8366858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0" y="0"/>
              <a:ext cx="4155540" cy="8366858"/>
              <a:chOff x="0" y="0"/>
              <a:chExt cx="9461500" cy="19050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400304" y="312801"/>
                <a:ext cx="8650859" cy="18424398"/>
              </a:xfrm>
              <a:custGeom>
                <a:avLst/>
                <a:gdLst/>
                <a:ahLst/>
                <a:cxnLst/>
                <a:rect l="l" t="t" r="r" b="b"/>
                <a:pathLst>
                  <a:path w="8650859" h="18424398">
                    <a:moveTo>
                      <a:pt x="7532370" y="18424398"/>
                    </a:moveTo>
                    <a:lnTo>
                      <a:pt x="1118489" y="18424398"/>
                    </a:lnTo>
                    <a:cubicBezTo>
                      <a:pt x="500761" y="18424398"/>
                      <a:pt x="0" y="17923636"/>
                      <a:pt x="0" y="17305910"/>
                    </a:cubicBezTo>
                    <a:lnTo>
                      <a:pt x="0" y="1118489"/>
                    </a:lnTo>
                    <a:cubicBezTo>
                      <a:pt x="0" y="500761"/>
                      <a:pt x="500761" y="0"/>
                      <a:pt x="1118489" y="0"/>
                    </a:cubicBezTo>
                    <a:lnTo>
                      <a:pt x="7532370" y="0"/>
                    </a:lnTo>
                    <a:cubicBezTo>
                      <a:pt x="8150098" y="0"/>
                      <a:pt x="8650859" y="500761"/>
                      <a:pt x="8650859" y="1118489"/>
                    </a:cubicBezTo>
                    <a:lnTo>
                      <a:pt x="8650859" y="17305910"/>
                    </a:lnTo>
                    <a:cubicBezTo>
                      <a:pt x="8650732" y="17923636"/>
                      <a:pt x="8150098" y="18424398"/>
                      <a:pt x="7532370" y="18424398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1081" r="-21081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0" y="0"/>
                <a:ext cx="94615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9461500" h="19050000">
                    <a:moveTo>
                      <a:pt x="94615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9461500" y="0"/>
                    </a:lnTo>
                    <a:lnTo>
                      <a:pt x="9461500" y="1905000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83" r="-8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7" name="Freeform 7"/>
            <p:cNvSpPr/>
            <p:nvPr/>
          </p:nvSpPr>
          <p:spPr>
            <a:xfrm rot="-5400000">
              <a:off x="-356371" y="3559618"/>
              <a:ext cx="4946574" cy="3855533"/>
            </a:xfrm>
            <a:custGeom>
              <a:avLst/>
              <a:gdLst/>
              <a:ahLst/>
              <a:cxnLst/>
              <a:rect l="l" t="t" r="r" b="b"/>
              <a:pathLst>
                <a:path w="4946574" h="3855533">
                  <a:moveTo>
                    <a:pt x="0" y="0"/>
                  </a:moveTo>
                  <a:lnTo>
                    <a:pt x="4946573" y="0"/>
                  </a:lnTo>
                  <a:lnTo>
                    <a:pt x="4946573" y="3855533"/>
                  </a:lnTo>
                  <a:lnTo>
                    <a:pt x="0" y="3855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b="-2829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18577" y="4420019"/>
              <a:ext cx="2318387" cy="444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1"/>
                </a:lnSpc>
              </a:pPr>
              <a:r>
                <a:rPr lang="en-US" sz="2201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BPT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797827" y="2652495"/>
              <a:ext cx="1439136" cy="1447029"/>
            </a:xfrm>
            <a:custGeom>
              <a:avLst/>
              <a:gdLst/>
              <a:ahLst/>
              <a:cxnLst/>
              <a:rect l="l" t="t" r="r" b="b"/>
              <a:pathLst>
                <a:path w="1439136" h="1447029">
                  <a:moveTo>
                    <a:pt x="0" y="0"/>
                  </a:moveTo>
                  <a:lnTo>
                    <a:pt x="1439136" y="0"/>
                  </a:lnTo>
                  <a:lnTo>
                    <a:pt x="1439136" y="1447029"/>
                  </a:lnTo>
                  <a:lnTo>
                    <a:pt x="0" y="1447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0"/>
            <p:cNvSpPr/>
            <p:nvPr/>
          </p:nvSpPr>
          <p:spPr>
            <a:xfrm flipH="1">
              <a:off x="918577" y="2652495"/>
              <a:ext cx="1439136" cy="1447029"/>
            </a:xfrm>
            <a:custGeom>
              <a:avLst/>
              <a:gdLst/>
              <a:ahLst/>
              <a:cxnLst/>
              <a:rect l="l" t="t" r="r" b="b"/>
              <a:pathLst>
                <a:path w="1439136" h="1447029">
                  <a:moveTo>
                    <a:pt x="1439136" y="0"/>
                  </a:moveTo>
                  <a:lnTo>
                    <a:pt x="0" y="0"/>
                  </a:lnTo>
                  <a:lnTo>
                    <a:pt x="0" y="1447029"/>
                  </a:lnTo>
                  <a:lnTo>
                    <a:pt x="1439136" y="1447029"/>
                  </a:lnTo>
                  <a:lnTo>
                    <a:pt x="1439136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52814" y="8049907"/>
            <a:ext cx="2268427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Hanbat Personal Trainer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38398" y="2587444"/>
            <a:ext cx="8354369" cy="1384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스마트폰</a:t>
            </a:r>
            <a:r>
              <a:rPr lang="en-US" sz="4000" b="1" dirty="0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 </a:t>
            </a: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카메라만으로</a:t>
            </a:r>
            <a:endParaRPr lang="en-US" sz="4000" b="1" dirty="0">
              <a:solidFill>
                <a:srgbClr val="023E9F"/>
              </a:solidFill>
              <a:latin typeface="Freesentation 6 SemiBold" pitchFamily="2" charset="-127"/>
              <a:ea typeface="Freesentation 6 SemiBold" pitchFamily="2" charset="-127"/>
              <a:cs typeface="Noto Sans Kr Bold"/>
              <a:sym typeface="Noto Sans Kr Bold"/>
            </a:endParaRPr>
          </a:p>
          <a:p>
            <a:pPr algn="l">
              <a:lnSpc>
                <a:spcPts val="5600"/>
              </a:lnSpc>
            </a:pP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실시간</a:t>
            </a:r>
            <a:r>
              <a:rPr lang="en-US" sz="4000" b="1" dirty="0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 </a:t>
            </a: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운동</a:t>
            </a:r>
            <a:r>
              <a:rPr lang="en-US" sz="4000" b="1" dirty="0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 </a:t>
            </a: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자세</a:t>
            </a:r>
            <a:r>
              <a:rPr lang="en-US" sz="4000" b="1" dirty="0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 </a:t>
            </a: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분석</a:t>
            </a:r>
            <a:r>
              <a:rPr lang="en-US" sz="4000" b="1" dirty="0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 </a:t>
            </a: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및</a:t>
            </a:r>
            <a:r>
              <a:rPr lang="en-US" sz="4000" b="1" dirty="0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 </a:t>
            </a: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피드백</a:t>
            </a:r>
            <a:r>
              <a:rPr lang="en-US" sz="4000" b="1" dirty="0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 </a:t>
            </a:r>
            <a:r>
              <a:rPr lang="en-US" sz="4000" b="1" dirty="0" err="1">
                <a:solidFill>
                  <a:srgbClr val="023E9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가능</a:t>
            </a:r>
            <a:endParaRPr lang="en-US" sz="4000" b="1" dirty="0">
              <a:solidFill>
                <a:srgbClr val="023E9F"/>
              </a:solidFill>
              <a:latin typeface="Freesentation 6 SemiBold" pitchFamily="2" charset="-127"/>
              <a:ea typeface="Freesentation 6 SemiBold" pitchFamily="2" charset="-127"/>
              <a:cs typeface="Noto Sans Kr Bold"/>
              <a:sym typeface="Noto Sans K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161099" y="4421898"/>
            <a:ext cx="7965802" cy="3754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7"/>
              </a:lnSpc>
            </a:pPr>
            <a:r>
              <a:rPr lang="en-US" sz="3399" dirty="0">
                <a:solidFill>
                  <a:srgbClr val="000000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✔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Human Pose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Estimation으로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관절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추적</a:t>
            </a:r>
            <a:endParaRPr lang="en-US" sz="3399" dirty="0">
              <a:solidFill>
                <a:srgbClr val="023E9F"/>
              </a:solidFill>
              <a:latin typeface="Freesentation 4 Regular" pitchFamily="2" charset="-127"/>
              <a:ea typeface="Freesentation 4 Regular" pitchFamily="2" charset="-127"/>
              <a:cs typeface="Noto Sans Kr"/>
              <a:sym typeface="Noto Sans Kr"/>
            </a:endParaRPr>
          </a:p>
          <a:p>
            <a:pPr algn="l">
              <a:lnSpc>
                <a:spcPts val="6017"/>
              </a:lnSpc>
            </a:pPr>
            <a:r>
              <a:rPr lang="en-US" sz="3399" dirty="0">
                <a:solidFill>
                  <a:srgbClr val="000000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✔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관절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각도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기반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자세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정확도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판별</a:t>
            </a:r>
            <a:endParaRPr lang="en-US" sz="3399" dirty="0">
              <a:solidFill>
                <a:srgbClr val="023E9F"/>
              </a:solidFill>
              <a:latin typeface="Freesentation 4 Regular" pitchFamily="2" charset="-127"/>
              <a:ea typeface="Freesentation 4 Regular" pitchFamily="2" charset="-127"/>
              <a:cs typeface="Noto Sans Kr"/>
              <a:sym typeface="Noto Sans Kr"/>
            </a:endParaRPr>
          </a:p>
          <a:p>
            <a:pPr algn="l">
              <a:lnSpc>
                <a:spcPts val="6017"/>
              </a:lnSpc>
            </a:pPr>
            <a:r>
              <a:rPr lang="en-US" sz="3399" dirty="0">
                <a:solidFill>
                  <a:srgbClr val="000000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✔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실시간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시각·음성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피드백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제공</a:t>
            </a:r>
            <a:endParaRPr lang="en-US" sz="3399" dirty="0">
              <a:solidFill>
                <a:srgbClr val="023E9F"/>
              </a:solidFill>
              <a:latin typeface="Freesentation 4 Regular" pitchFamily="2" charset="-127"/>
              <a:ea typeface="Freesentation 4 Regular" pitchFamily="2" charset="-127"/>
              <a:cs typeface="Noto Sans Kr"/>
              <a:sym typeface="Noto Sans Kr"/>
            </a:endParaRPr>
          </a:p>
          <a:p>
            <a:pPr algn="l">
              <a:lnSpc>
                <a:spcPts val="6017"/>
              </a:lnSpc>
            </a:pPr>
            <a:r>
              <a:rPr lang="en-US" sz="3399" dirty="0">
                <a:solidFill>
                  <a:srgbClr val="000000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✔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운동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횟수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(Rep)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자동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카운팅</a:t>
            </a:r>
            <a:endParaRPr lang="en-US" sz="3399" dirty="0">
              <a:solidFill>
                <a:srgbClr val="023E9F"/>
              </a:solidFill>
              <a:latin typeface="Freesentation 4 Regular" pitchFamily="2" charset="-127"/>
              <a:ea typeface="Freesentation 4 Regular" pitchFamily="2" charset="-127"/>
              <a:cs typeface="Noto Sans Kr"/>
              <a:sym typeface="Noto Sans Kr"/>
            </a:endParaRPr>
          </a:p>
          <a:p>
            <a:pPr algn="l">
              <a:lnSpc>
                <a:spcPts val="6017"/>
              </a:lnSpc>
            </a:pPr>
            <a:r>
              <a:rPr lang="en-US" sz="3399" dirty="0">
                <a:solidFill>
                  <a:srgbClr val="000000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✔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운동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리포트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및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기록</a:t>
            </a:r>
            <a:r>
              <a:rPr lang="en-US" sz="3399" dirty="0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 </a:t>
            </a:r>
            <a:r>
              <a:rPr lang="en-US" sz="3399" dirty="0" err="1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관리</a:t>
            </a:r>
            <a:endParaRPr lang="en-US" sz="3399" dirty="0">
              <a:solidFill>
                <a:srgbClr val="023E9F"/>
              </a:solidFill>
              <a:latin typeface="Freesentation 4 Regular" pitchFamily="2" charset="-127"/>
              <a:ea typeface="Freesentation 4 Regular" pitchFamily="2" charset="-127"/>
              <a:cs typeface="Noto Sans Kr"/>
              <a:sym typeface="Noto Sans Kr"/>
            </a:endParaRPr>
          </a:p>
        </p:txBody>
      </p:sp>
      <p:sp>
        <p:nvSpPr>
          <p:cNvPr id="14" name="Freeform 14"/>
          <p:cNvSpPr/>
          <p:nvPr/>
        </p:nvSpPr>
        <p:spPr>
          <a:xfrm rot="-1986454">
            <a:off x="8889376" y="4123015"/>
            <a:ext cx="21453734" cy="17162987"/>
          </a:xfrm>
          <a:custGeom>
            <a:avLst/>
            <a:gdLst/>
            <a:ahLst/>
            <a:cxnLst/>
            <a:rect l="l" t="t" r="r" b="b"/>
            <a:pathLst>
              <a:path w="21453734" h="17162987">
                <a:moveTo>
                  <a:pt x="0" y="0"/>
                </a:moveTo>
                <a:lnTo>
                  <a:pt x="21453735" y="0"/>
                </a:lnTo>
                <a:lnTo>
                  <a:pt x="21453735" y="17162987"/>
                </a:lnTo>
                <a:lnTo>
                  <a:pt x="0" y="171629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30599"/>
            <a:ext cx="16441807" cy="2988099"/>
            <a:chOff x="0" y="0"/>
            <a:chExt cx="21922410" cy="3984133"/>
          </a:xfrm>
        </p:grpSpPr>
        <p:grpSp>
          <p:nvGrpSpPr>
            <p:cNvPr id="3" name="Group 3"/>
            <p:cNvGrpSpPr/>
            <p:nvPr/>
          </p:nvGrpSpPr>
          <p:grpSpPr>
            <a:xfrm>
              <a:off x="8943231" y="0"/>
              <a:ext cx="3950849" cy="3984133"/>
              <a:chOff x="0" y="0"/>
              <a:chExt cx="1036887" cy="104562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03688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1036887" h="1045622">
                    <a:moveTo>
                      <a:pt x="912426" y="1045622"/>
                    </a:moveTo>
                    <a:lnTo>
                      <a:pt x="124460" y="1045622"/>
                    </a:lnTo>
                    <a:cubicBezTo>
                      <a:pt x="55880" y="1045622"/>
                      <a:pt x="0" y="989742"/>
                      <a:pt x="0" y="92116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912427" y="0"/>
                    </a:lnTo>
                    <a:cubicBezTo>
                      <a:pt x="981007" y="0"/>
                      <a:pt x="1036887" y="55880"/>
                      <a:pt x="1036887" y="124460"/>
                    </a:cubicBezTo>
                    <a:lnTo>
                      <a:pt x="1036887" y="921162"/>
                    </a:lnTo>
                    <a:cubicBezTo>
                      <a:pt x="1036887" y="989742"/>
                      <a:pt x="981007" y="1045622"/>
                      <a:pt x="912427" y="1045622"/>
                    </a:cubicBezTo>
                    <a:close/>
                  </a:path>
                </a:pathLst>
              </a:custGeom>
              <a:solidFill>
                <a:srgbClr val="00C2E4"/>
              </a:solidFill>
            </p:spPr>
            <p:txBody>
              <a:bodyPr/>
              <a:lstStyle/>
              <a:p>
                <a:endParaRPr lang="ko-KR" altLang="en-US">
                  <a:latin typeface="Freesentation 4 Regular" pitchFamily="2" charset="-127"/>
                  <a:ea typeface="Freesentation 4 Regular" pitchFamily="2" charset="-127"/>
                </a:endParaRPr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4470727" y="0"/>
              <a:ext cx="3950849" cy="3984133"/>
              <a:chOff x="0" y="0"/>
              <a:chExt cx="1036887" cy="104562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03688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1036887" h="1045622">
                    <a:moveTo>
                      <a:pt x="912426" y="1045622"/>
                    </a:moveTo>
                    <a:lnTo>
                      <a:pt x="124460" y="1045622"/>
                    </a:lnTo>
                    <a:cubicBezTo>
                      <a:pt x="55880" y="1045622"/>
                      <a:pt x="0" y="989742"/>
                      <a:pt x="0" y="92116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912427" y="0"/>
                    </a:lnTo>
                    <a:cubicBezTo>
                      <a:pt x="981007" y="0"/>
                      <a:pt x="1036887" y="55880"/>
                      <a:pt x="1036887" y="124460"/>
                    </a:cubicBezTo>
                    <a:lnTo>
                      <a:pt x="1036887" y="921162"/>
                    </a:lnTo>
                    <a:cubicBezTo>
                      <a:pt x="1036887" y="989742"/>
                      <a:pt x="981007" y="1045622"/>
                      <a:pt x="912427" y="1045622"/>
                    </a:cubicBezTo>
                    <a:close/>
                  </a:path>
                </a:pathLst>
              </a:custGeom>
              <a:solidFill>
                <a:srgbClr val="0446F1"/>
              </a:solidFill>
            </p:spPr>
            <p:txBody>
              <a:bodyPr/>
              <a:lstStyle/>
              <a:p>
                <a:endParaRPr lang="ko-KR" altLang="en-US">
                  <a:latin typeface="Freesentation 4 Regular" pitchFamily="2" charset="-127"/>
                  <a:ea typeface="Freesentation 4 Regular" pitchFamily="2" charset="-127"/>
                </a:endParaR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3950849" cy="3984133"/>
              <a:chOff x="0" y="0"/>
              <a:chExt cx="1036887" cy="104562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3688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1036887" h="1045622">
                    <a:moveTo>
                      <a:pt x="912426" y="1045622"/>
                    </a:moveTo>
                    <a:lnTo>
                      <a:pt x="124460" y="1045622"/>
                    </a:lnTo>
                    <a:cubicBezTo>
                      <a:pt x="55880" y="1045622"/>
                      <a:pt x="0" y="989742"/>
                      <a:pt x="0" y="92116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912427" y="0"/>
                    </a:lnTo>
                    <a:cubicBezTo>
                      <a:pt x="981007" y="0"/>
                      <a:pt x="1036887" y="55880"/>
                      <a:pt x="1036887" y="124460"/>
                    </a:cubicBezTo>
                    <a:lnTo>
                      <a:pt x="1036887" y="921162"/>
                    </a:lnTo>
                    <a:cubicBezTo>
                      <a:pt x="1036887" y="989742"/>
                      <a:pt x="981007" y="1045622"/>
                      <a:pt x="912427" y="1045622"/>
                    </a:cubicBezTo>
                    <a:close/>
                  </a:path>
                </a:pathLst>
              </a:custGeom>
              <a:solidFill>
                <a:srgbClr val="023E9F"/>
              </a:solidFill>
            </p:spPr>
            <p:txBody>
              <a:bodyPr/>
              <a:lstStyle/>
              <a:p>
                <a:endParaRPr lang="ko-KR" altLang="en-US">
                  <a:latin typeface="Freesentation 4 Regular" pitchFamily="2" charset="-127"/>
                  <a:ea typeface="Freesentation 4 Regular" pitchFamily="2" charset="-127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7971560" y="0"/>
              <a:ext cx="3950849" cy="3984133"/>
              <a:chOff x="0" y="0"/>
              <a:chExt cx="1036887" cy="104562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3688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1036887" h="1045622">
                    <a:moveTo>
                      <a:pt x="912426" y="1045622"/>
                    </a:moveTo>
                    <a:lnTo>
                      <a:pt x="124460" y="1045622"/>
                    </a:lnTo>
                    <a:cubicBezTo>
                      <a:pt x="55880" y="1045622"/>
                      <a:pt x="0" y="989742"/>
                      <a:pt x="0" y="92116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912427" y="0"/>
                    </a:lnTo>
                    <a:cubicBezTo>
                      <a:pt x="981007" y="0"/>
                      <a:pt x="1036887" y="55880"/>
                      <a:pt x="1036887" y="124460"/>
                    </a:cubicBezTo>
                    <a:lnTo>
                      <a:pt x="1036887" y="921162"/>
                    </a:lnTo>
                    <a:cubicBezTo>
                      <a:pt x="1036887" y="989742"/>
                      <a:pt x="981007" y="1045622"/>
                      <a:pt x="912427" y="1045622"/>
                    </a:cubicBezTo>
                    <a:close/>
                  </a:path>
                </a:pathLst>
              </a:custGeom>
              <a:solidFill>
                <a:srgbClr val="82CCFA"/>
              </a:solidFill>
            </p:spPr>
            <p:txBody>
              <a:bodyPr/>
              <a:lstStyle/>
              <a:p>
                <a:endParaRPr lang="ko-KR" altLang="en-US">
                  <a:latin typeface="Freesentation 4 Regular" pitchFamily="2" charset="-127"/>
                  <a:ea typeface="Freesentation 4 Regular" pitchFamily="2" charset="-127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3499057" y="0"/>
              <a:ext cx="3950849" cy="3984133"/>
              <a:chOff x="0" y="0"/>
              <a:chExt cx="1036887" cy="10456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36887" cy="1045622"/>
              </a:xfrm>
              <a:custGeom>
                <a:avLst/>
                <a:gdLst/>
                <a:ahLst/>
                <a:cxnLst/>
                <a:rect l="l" t="t" r="r" b="b"/>
                <a:pathLst>
                  <a:path w="1036887" h="1045622">
                    <a:moveTo>
                      <a:pt x="912426" y="1045622"/>
                    </a:moveTo>
                    <a:lnTo>
                      <a:pt x="124460" y="1045622"/>
                    </a:lnTo>
                    <a:cubicBezTo>
                      <a:pt x="55880" y="1045622"/>
                      <a:pt x="0" y="989742"/>
                      <a:pt x="0" y="92116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912427" y="0"/>
                    </a:lnTo>
                    <a:cubicBezTo>
                      <a:pt x="981007" y="0"/>
                      <a:pt x="1036887" y="55880"/>
                      <a:pt x="1036887" y="124460"/>
                    </a:cubicBezTo>
                    <a:lnTo>
                      <a:pt x="1036887" y="921162"/>
                    </a:lnTo>
                    <a:cubicBezTo>
                      <a:pt x="1036887" y="989742"/>
                      <a:pt x="981007" y="1045622"/>
                      <a:pt x="912427" y="1045622"/>
                    </a:cubicBezTo>
                    <a:close/>
                  </a:path>
                </a:pathLst>
              </a:custGeom>
              <a:solidFill>
                <a:srgbClr val="0495F1"/>
              </a:solidFill>
            </p:spPr>
            <p:txBody>
              <a:bodyPr/>
              <a:lstStyle/>
              <a:p>
                <a:endParaRPr lang="ko-KR" altLang="en-US">
                  <a:latin typeface="Freesentation 4 Regular" pitchFamily="2" charset="-127"/>
                  <a:ea typeface="Freesentation 4 Regular" pitchFamily="2" charset="-127"/>
                </a:endParaRP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3935419" y="1888566"/>
              <a:ext cx="563267" cy="207001"/>
            </a:xfrm>
            <a:custGeom>
              <a:avLst/>
              <a:gdLst/>
              <a:ahLst/>
              <a:cxnLst/>
              <a:rect l="l" t="t" r="r" b="b"/>
              <a:pathLst>
                <a:path w="563267" h="207001">
                  <a:moveTo>
                    <a:pt x="0" y="0"/>
                  </a:moveTo>
                  <a:lnTo>
                    <a:pt x="563267" y="0"/>
                  </a:lnTo>
                  <a:lnTo>
                    <a:pt x="563267" y="207001"/>
                  </a:lnTo>
                  <a:lnTo>
                    <a:pt x="0" y="207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443320" y="1888566"/>
              <a:ext cx="563267" cy="207001"/>
            </a:xfrm>
            <a:custGeom>
              <a:avLst/>
              <a:gdLst/>
              <a:ahLst/>
              <a:cxnLst/>
              <a:rect l="l" t="t" r="r" b="b"/>
              <a:pathLst>
                <a:path w="563267" h="207001">
                  <a:moveTo>
                    <a:pt x="0" y="0"/>
                  </a:moveTo>
                  <a:lnTo>
                    <a:pt x="563267" y="0"/>
                  </a:lnTo>
                  <a:lnTo>
                    <a:pt x="563267" y="207001"/>
                  </a:lnTo>
                  <a:lnTo>
                    <a:pt x="0" y="207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2919480" y="1992066"/>
              <a:ext cx="563267" cy="207001"/>
            </a:xfrm>
            <a:custGeom>
              <a:avLst/>
              <a:gdLst/>
              <a:ahLst/>
              <a:cxnLst/>
              <a:rect l="l" t="t" r="r" b="b"/>
              <a:pathLst>
                <a:path w="563267" h="207001">
                  <a:moveTo>
                    <a:pt x="0" y="0"/>
                  </a:moveTo>
                  <a:lnTo>
                    <a:pt x="563267" y="0"/>
                  </a:lnTo>
                  <a:lnTo>
                    <a:pt x="563267" y="207001"/>
                  </a:lnTo>
                  <a:lnTo>
                    <a:pt x="0" y="207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7408293" y="1992066"/>
              <a:ext cx="563267" cy="207001"/>
            </a:xfrm>
            <a:custGeom>
              <a:avLst/>
              <a:gdLst/>
              <a:ahLst/>
              <a:cxnLst/>
              <a:rect l="l" t="t" r="r" b="b"/>
              <a:pathLst>
                <a:path w="563267" h="207001">
                  <a:moveTo>
                    <a:pt x="0" y="0"/>
                  </a:moveTo>
                  <a:lnTo>
                    <a:pt x="563267" y="0"/>
                  </a:lnTo>
                  <a:lnTo>
                    <a:pt x="563267" y="207001"/>
                  </a:lnTo>
                  <a:lnTo>
                    <a:pt x="0" y="207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8463" y="1264991"/>
              <a:ext cx="3133923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Smartphone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Camera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98686" y="1264991"/>
              <a:ext cx="3894931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 spc="-54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Pose Estimation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spc="-54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Engine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47564" y="1264991"/>
              <a:ext cx="2542183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 dirty="0" err="1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Keypoint</a:t>
              </a:r>
              <a:endParaRPr lang="en-US" sz="3000" b="1" dirty="0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endParaRP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Extraction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048261" y="1264991"/>
              <a:ext cx="2852440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Joint Angle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Calculator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297225" y="1264991"/>
              <a:ext cx="3299520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Exercise Rule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dirty="0">
                  <a:solidFill>
                    <a:srgbClr val="FFFFFF"/>
                  </a:solidFill>
                  <a:latin typeface="Freesentation 6 SemiBold" pitchFamily="2" charset="-127"/>
                  <a:ea typeface="Freesentation 6 SemiBold" pitchFamily="2" charset="-127"/>
                  <a:cs typeface="Noto Sans Kr Bold"/>
                  <a:sym typeface="Noto Sans Kr Bold"/>
                </a:rPr>
                <a:t>Engine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71877" y="2997510"/>
              <a:ext cx="1207095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Freesentation 4 Regular" pitchFamily="2" charset="-127"/>
                  <a:ea typeface="Freesentation 4 Regular" pitchFamily="2" charset="-127"/>
                  <a:cs typeface="Noto Sans Kr"/>
                  <a:sym typeface="Noto Sans Kr"/>
                </a:rPr>
                <a:t>영상 입력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23978" y="2997510"/>
              <a:ext cx="3041352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Freesentation 4 Regular" pitchFamily="2" charset="-127"/>
                  <a:ea typeface="Freesentation 4 Regular" pitchFamily="2" charset="-127"/>
                  <a:cs typeface="Noto Sans Kr"/>
                  <a:sym typeface="Noto Sans Kr"/>
                </a:rPr>
                <a:t>MediaPipe / MoveNet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90404" y="2997510"/>
              <a:ext cx="1939826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Freesentation 4 Regular" pitchFamily="2" charset="-127"/>
                  <a:ea typeface="Freesentation 4 Regular" pitchFamily="2" charset="-127"/>
                  <a:cs typeface="Noto Sans Kr"/>
                  <a:sym typeface="Noto Sans Kr"/>
                </a:rPr>
                <a:t>33 landmarks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71980" y="2997510"/>
              <a:ext cx="3317180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Freesentation 4 Regular" pitchFamily="2" charset="-127"/>
                  <a:ea typeface="Freesentation 4 Regular" pitchFamily="2" charset="-127"/>
                  <a:cs typeface="Noto Sans Kr"/>
                  <a:sym typeface="Noto Sans Kr"/>
                </a:rPr>
                <a:t>어깨·팔꿈치·고관절·무릎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029212" y="2997510"/>
              <a:ext cx="1853208" cy="396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Freesentation 4 Regular" pitchFamily="2" charset="-127"/>
                  <a:ea typeface="Freesentation 4 Regular" pitchFamily="2" charset="-127"/>
                  <a:cs typeface="Noto Sans Kr"/>
                  <a:sym typeface="Noto Sans Kr"/>
                </a:rPr>
                <a:t>기준 각도 비교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413890" y="6648833"/>
            <a:ext cx="6508967" cy="3254483"/>
          </a:xfrm>
          <a:custGeom>
            <a:avLst/>
            <a:gdLst/>
            <a:ahLst/>
            <a:cxnLst/>
            <a:rect l="l" t="t" r="r" b="b"/>
            <a:pathLst>
              <a:path w="6508967" h="3254483">
                <a:moveTo>
                  <a:pt x="0" y="0"/>
                </a:moveTo>
                <a:lnTo>
                  <a:pt x="6508967" y="0"/>
                </a:lnTo>
                <a:lnTo>
                  <a:pt x="6508967" y="3254483"/>
                </a:lnTo>
                <a:lnTo>
                  <a:pt x="0" y="3254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Freeform 28"/>
          <p:cNvSpPr/>
          <p:nvPr/>
        </p:nvSpPr>
        <p:spPr>
          <a:xfrm>
            <a:off x="10449865" y="6648833"/>
            <a:ext cx="5350048" cy="3230092"/>
          </a:xfrm>
          <a:custGeom>
            <a:avLst/>
            <a:gdLst/>
            <a:ahLst/>
            <a:cxnLst/>
            <a:rect l="l" t="t" r="r" b="b"/>
            <a:pathLst>
              <a:path w="5350048" h="3230092">
                <a:moveTo>
                  <a:pt x="0" y="0"/>
                </a:moveTo>
                <a:lnTo>
                  <a:pt x="5350048" y="0"/>
                </a:lnTo>
                <a:lnTo>
                  <a:pt x="5350048" y="3230091"/>
                </a:lnTo>
                <a:lnTo>
                  <a:pt x="0" y="32300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9" name="TextBox 29"/>
          <p:cNvSpPr txBox="1"/>
          <p:nvPr/>
        </p:nvSpPr>
        <p:spPr>
          <a:xfrm>
            <a:off x="1028700" y="1019175"/>
            <a:ext cx="859087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시스템</a:t>
            </a:r>
            <a:r>
              <a:rPr lang="en-US" sz="54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아키텍처</a:t>
            </a:r>
            <a:endParaRPr lang="en-US" sz="5400" b="1" dirty="0">
              <a:solidFill>
                <a:srgbClr val="023E9F"/>
              </a:solidFill>
              <a:latin typeface="Freesentation 7 Bold" pitchFamily="2" charset="-127"/>
              <a:ea typeface="Freesentation 7 Bold" pitchFamily="2" charset="-127"/>
              <a:cs typeface="Red Hat Display Bold"/>
              <a:sym typeface="Red Hat Displa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98344" y="2503395"/>
            <a:ext cx="1626404" cy="3212650"/>
          </a:xfrm>
          <a:custGeom>
            <a:avLst/>
            <a:gdLst/>
            <a:ahLst/>
            <a:cxnLst/>
            <a:rect l="l" t="t" r="r" b="b"/>
            <a:pathLst>
              <a:path w="1626404" h="3212650">
                <a:moveTo>
                  <a:pt x="0" y="0"/>
                </a:moveTo>
                <a:lnTo>
                  <a:pt x="1626404" y="0"/>
                </a:lnTo>
                <a:lnTo>
                  <a:pt x="1626404" y="3212650"/>
                </a:lnTo>
                <a:lnTo>
                  <a:pt x="0" y="3212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>
            <a:off x="7891504" y="3036175"/>
            <a:ext cx="2504992" cy="2107325"/>
          </a:xfrm>
          <a:custGeom>
            <a:avLst/>
            <a:gdLst/>
            <a:ahLst/>
            <a:cxnLst/>
            <a:rect l="l" t="t" r="r" b="b"/>
            <a:pathLst>
              <a:path w="2504992" h="2107325">
                <a:moveTo>
                  <a:pt x="0" y="0"/>
                </a:moveTo>
                <a:lnTo>
                  <a:pt x="2504992" y="0"/>
                </a:lnTo>
                <a:lnTo>
                  <a:pt x="2504992" y="2107325"/>
                </a:lnTo>
                <a:lnTo>
                  <a:pt x="0" y="210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Freeform 4"/>
          <p:cNvSpPr/>
          <p:nvPr/>
        </p:nvSpPr>
        <p:spPr>
          <a:xfrm>
            <a:off x="13382349" y="2688934"/>
            <a:ext cx="2453913" cy="2624506"/>
          </a:xfrm>
          <a:custGeom>
            <a:avLst/>
            <a:gdLst/>
            <a:ahLst/>
            <a:cxnLst/>
            <a:rect l="l" t="t" r="r" b="b"/>
            <a:pathLst>
              <a:path w="2453913" h="2624506">
                <a:moveTo>
                  <a:pt x="0" y="0"/>
                </a:moveTo>
                <a:lnTo>
                  <a:pt x="2453913" y="0"/>
                </a:lnTo>
                <a:lnTo>
                  <a:pt x="2453913" y="2624505"/>
                </a:lnTo>
                <a:lnTo>
                  <a:pt x="0" y="26245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019175"/>
            <a:ext cx="859087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시스템</a:t>
            </a:r>
            <a:r>
              <a:rPr lang="en-US" sz="54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아키텍처</a:t>
            </a:r>
            <a:endParaRPr lang="en-US" sz="5400" b="1" dirty="0">
              <a:solidFill>
                <a:srgbClr val="023E9F"/>
              </a:solidFill>
              <a:latin typeface="Freesentation 7 Bold" pitchFamily="2" charset="-127"/>
              <a:ea typeface="Freesentation 7 Bold" pitchFamily="2" charset="-127"/>
              <a:cs typeface="Red Hat Display Bold"/>
              <a:sym typeface="Red Hat Display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41272" y="7913425"/>
            <a:ext cx="3540547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관절 시각화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자세 오류 강조 표시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41272" y="5892831"/>
            <a:ext cx="354054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23E9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UI Overlay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32799" y="7913425"/>
            <a:ext cx="302240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Android TTS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실시간 음성 안내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73727" y="5364829"/>
            <a:ext cx="3540547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23E9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Voice Feedback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54531" y="7913425"/>
            <a:ext cx="314377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Rep Count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23E9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자세 점수·리포트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6143" y="5430869"/>
            <a:ext cx="3540547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23E9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Workout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9175"/>
            <a:ext cx="859087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핵심</a:t>
            </a:r>
            <a:r>
              <a:rPr lang="en-US" sz="54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기술</a:t>
            </a:r>
            <a:r>
              <a:rPr lang="en-US" sz="54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스택</a:t>
            </a:r>
            <a:endParaRPr lang="en-US" sz="5400" b="1" dirty="0">
              <a:solidFill>
                <a:srgbClr val="023E9F"/>
              </a:solidFill>
              <a:latin typeface="Freesentation 7 Bold" pitchFamily="2" charset="-127"/>
              <a:ea typeface="Freesentation 7 Bold" pitchFamily="2" charset="-127"/>
              <a:cs typeface="Red Hat Display Bold"/>
              <a:sym typeface="Red Hat Display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4152654" y="2740905"/>
            <a:ext cx="3106646" cy="4438065"/>
            <a:chOff x="0" y="0"/>
            <a:chExt cx="4445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solidFill>
              <a:srgbClr val="82CCFA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740905"/>
            <a:ext cx="3106646" cy="4438065"/>
            <a:chOff x="0" y="0"/>
            <a:chExt cx="4445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solidFill>
              <a:srgbClr val="023E9F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90677" y="2740905"/>
            <a:ext cx="3106646" cy="4438065"/>
            <a:chOff x="0" y="0"/>
            <a:chExt cx="4445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solidFill>
              <a:srgbClr val="0495F1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312582" y="3714335"/>
            <a:ext cx="3106646" cy="4438065"/>
            <a:chOff x="0" y="0"/>
            <a:chExt cx="4445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solidFill>
              <a:srgbClr val="0446F1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878298" y="3714335"/>
            <a:ext cx="3106646" cy="4438065"/>
            <a:chOff x="0" y="0"/>
            <a:chExt cx="4445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45000" cy="6350000"/>
            </a:xfrm>
            <a:custGeom>
              <a:avLst/>
              <a:gdLst/>
              <a:ahLst/>
              <a:cxnLst/>
              <a:rect l="l" t="t" r="r" b="b"/>
              <a:pathLst>
                <a:path w="4445000" h="6350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solidFill>
              <a:srgbClr val="00C2E4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77867" y="4072843"/>
            <a:ext cx="220831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Flutter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0136" y="5231693"/>
            <a:ext cx="280377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크로스 플랫폼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iOS / Android 앱 개발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04714" y="4694518"/>
            <a:ext cx="2964805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dist">
              <a:lnSpc>
                <a:spcPts val="7000"/>
              </a:lnSpc>
            </a:pPr>
            <a:r>
              <a:rPr lang="en-US" sz="5000" b="1" spc="-390" dirty="0" err="1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MediaPipe</a:t>
            </a:r>
            <a:r>
              <a:rPr lang="en-US" sz="5000" b="1" spc="-390" dirty="0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 </a:t>
            </a:r>
          </a:p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Pose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62443" y="6643676"/>
            <a:ext cx="236882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33개 신체 랜드마크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실시간 추출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0" y="3709598"/>
            <a:ext cx="2997771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dist">
              <a:lnSpc>
                <a:spcPts val="7000"/>
              </a:lnSpc>
            </a:pPr>
            <a:r>
              <a:rPr lang="en-US" sz="5000" b="1" spc="-485" dirty="0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TensorFlow</a:t>
            </a:r>
          </a:p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Lite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9853" y="5609553"/>
            <a:ext cx="1501676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온디바이스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경량 AI 추론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44890" y="5006316"/>
            <a:ext cx="257346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OpenCV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43675" y="6165166"/>
            <a:ext cx="1775892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영상 처리 및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관절 좌표 계산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601821" y="3747698"/>
            <a:ext cx="2208312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Flutter</a:t>
            </a:r>
          </a:p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Freesentation 6 SemiBold" pitchFamily="2" charset="-127"/>
                <a:ea typeface="Freesentation 6 SemiBold" pitchFamily="2" charset="-127"/>
                <a:cs typeface="Noto Sans Kr Bold"/>
                <a:sym typeface="Noto Sans Kr Bold"/>
              </a:rPr>
              <a:t>TTS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83677" y="5638128"/>
            <a:ext cx="2044601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실시간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Freesentation 4 Regular" pitchFamily="2" charset="-127"/>
                <a:ea typeface="Freesentation 4 Regular" pitchFamily="2" charset="-127"/>
                <a:cs typeface="Noto Sans Kr"/>
                <a:sym typeface="Noto Sans Kr"/>
              </a:rPr>
              <a:t>음성 자세 피드백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-234674" y="9103373"/>
            <a:ext cx="18757348" cy="1417347"/>
            <a:chOff x="0" y="0"/>
            <a:chExt cx="6842732" cy="5170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42731" cy="517052"/>
            </a:xfrm>
            <a:custGeom>
              <a:avLst/>
              <a:gdLst/>
              <a:ahLst/>
              <a:cxnLst/>
              <a:rect l="l" t="t" r="r" b="b"/>
              <a:pathLst>
                <a:path w="6842731" h="517052">
                  <a:moveTo>
                    <a:pt x="0" y="0"/>
                  </a:moveTo>
                  <a:lnTo>
                    <a:pt x="6842731" y="0"/>
                  </a:lnTo>
                  <a:lnTo>
                    <a:pt x="6842731" y="517052"/>
                  </a:lnTo>
                  <a:lnTo>
                    <a:pt x="0" y="517052"/>
                  </a:lnTo>
                  <a:close/>
                </a:path>
              </a:pathLst>
            </a:custGeom>
            <a:solidFill>
              <a:srgbClr val="1764D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8391048"/>
            <a:ext cx="2050994" cy="1424651"/>
            <a:chOff x="0" y="0"/>
            <a:chExt cx="244535" cy="16985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44535" cy="169858"/>
            </a:xfrm>
            <a:custGeom>
              <a:avLst/>
              <a:gdLst/>
              <a:ahLst/>
              <a:cxnLst/>
              <a:rect l="l" t="t" r="r" b="b"/>
              <a:pathLst>
                <a:path w="244535" h="169858">
                  <a:moveTo>
                    <a:pt x="122268" y="0"/>
                  </a:moveTo>
                  <a:cubicBezTo>
                    <a:pt x="54741" y="0"/>
                    <a:pt x="0" y="38024"/>
                    <a:pt x="0" y="84929"/>
                  </a:cubicBezTo>
                  <a:cubicBezTo>
                    <a:pt x="0" y="131834"/>
                    <a:pt x="54741" y="169858"/>
                    <a:pt x="122268" y="169858"/>
                  </a:cubicBezTo>
                  <a:cubicBezTo>
                    <a:pt x="189794" y="169858"/>
                    <a:pt x="244535" y="131834"/>
                    <a:pt x="244535" y="84929"/>
                  </a:cubicBezTo>
                  <a:cubicBezTo>
                    <a:pt x="244535" y="38024"/>
                    <a:pt x="189794" y="0"/>
                    <a:pt x="122268" y="0"/>
                  </a:cubicBezTo>
                  <a:close/>
                </a:path>
              </a:pathLst>
            </a:custGeom>
            <a:solidFill>
              <a:srgbClr val="00C2E4"/>
            </a:solidFill>
            <a:ln w="38100" cap="sq">
              <a:solidFill>
                <a:srgbClr val="00C2E4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925" y="30719"/>
              <a:ext cx="198685" cy="1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en-US" sz="2400" b="1" dirty="0" err="1">
                  <a:solidFill>
                    <a:srgbClr val="FFFFFF"/>
                  </a:solidFill>
                  <a:latin typeface="Freesentation 4 Regular" pitchFamily="2" charset="-127"/>
                  <a:ea typeface="Freesentation 4 Regular" pitchFamily="2" charset="-127"/>
                  <a:cs typeface="Red Hat Display Bold"/>
                  <a:sym typeface="Red Hat Display Bold"/>
                </a:rPr>
                <a:t>협업</a:t>
              </a:r>
              <a:r>
                <a:rPr lang="en-US" sz="2400" b="1" dirty="0">
                  <a:solidFill>
                    <a:srgbClr val="FFFFFF"/>
                  </a:solidFill>
                  <a:latin typeface="Freesentation 4 Regular" pitchFamily="2" charset="-127"/>
                  <a:ea typeface="Freesentation 4 Regular" pitchFamily="2" charset="-127"/>
                  <a:cs typeface="Red Hat Display Bold"/>
                  <a:sym typeface="Red Hat Display Bold"/>
                </a:rPr>
                <a:t> : </a:t>
              </a:r>
              <a:r>
                <a:rPr lang="en-US" sz="2400" dirty="0" err="1">
                  <a:solidFill>
                    <a:srgbClr val="FFFFFF"/>
                  </a:solidFill>
                  <a:latin typeface="Freesentation 5 Medium" pitchFamily="2" charset="-127"/>
                  <a:ea typeface="Freesentation 5 Medium" pitchFamily="2" charset="-127"/>
                  <a:cs typeface="Red Hat Display Bold"/>
                  <a:sym typeface="Red Hat Display Bold"/>
                </a:rPr>
                <a:t>GiHub</a:t>
              </a:r>
              <a:endParaRPr lang="en-US" sz="2400" dirty="0">
                <a:solidFill>
                  <a:srgbClr val="FFFFFF"/>
                </a:solidFill>
                <a:latin typeface="Freesentation 5 Medium" pitchFamily="2" charset="-127"/>
                <a:ea typeface="Freesentation 5 Medium" pitchFamily="2" charset="-127"/>
                <a:cs typeface="Red Hat Display Bold"/>
                <a:sym typeface="Red Hat Display 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368" y="3379137"/>
            <a:ext cx="4346392" cy="1605173"/>
            <a:chOff x="0" y="0"/>
            <a:chExt cx="876433" cy="323677"/>
          </a:xfrm>
        </p:grpSpPr>
        <p:sp>
          <p:nvSpPr>
            <p:cNvPr id="3" name="Freeform 3"/>
            <p:cNvSpPr/>
            <p:nvPr/>
          </p:nvSpPr>
          <p:spPr>
            <a:xfrm>
              <a:off x="7005" y="0"/>
              <a:ext cx="862423" cy="323677"/>
            </a:xfrm>
            <a:custGeom>
              <a:avLst/>
              <a:gdLst/>
              <a:ahLst/>
              <a:cxnLst/>
              <a:rect l="l" t="t" r="r" b="b"/>
              <a:pathLst>
                <a:path w="862423" h="323677">
                  <a:moveTo>
                    <a:pt x="18906" y="0"/>
                  </a:moveTo>
                  <a:lnTo>
                    <a:pt x="843517" y="0"/>
                  </a:lnTo>
                  <a:cubicBezTo>
                    <a:pt x="849555" y="0"/>
                    <a:pt x="855230" y="2884"/>
                    <a:pt x="858789" y="7762"/>
                  </a:cubicBezTo>
                  <a:cubicBezTo>
                    <a:pt x="862349" y="12640"/>
                    <a:pt x="863364" y="18925"/>
                    <a:pt x="861521" y="24675"/>
                  </a:cubicBezTo>
                  <a:lnTo>
                    <a:pt x="773618" y="299001"/>
                  </a:lnTo>
                  <a:cubicBezTo>
                    <a:pt x="768907" y="313703"/>
                    <a:pt x="755237" y="323677"/>
                    <a:pt x="739800" y="323677"/>
                  </a:cubicBezTo>
                  <a:lnTo>
                    <a:pt x="122623" y="323677"/>
                  </a:lnTo>
                  <a:cubicBezTo>
                    <a:pt x="107185" y="323677"/>
                    <a:pt x="93516" y="313703"/>
                    <a:pt x="88805" y="299001"/>
                  </a:cubicBezTo>
                  <a:lnTo>
                    <a:pt x="902" y="24675"/>
                  </a:lnTo>
                  <a:cubicBezTo>
                    <a:pt x="-941" y="18925"/>
                    <a:pt x="74" y="12640"/>
                    <a:pt x="3633" y="7762"/>
                  </a:cubicBezTo>
                  <a:cubicBezTo>
                    <a:pt x="7193" y="2884"/>
                    <a:pt x="12868" y="0"/>
                    <a:pt x="18906" y="0"/>
                  </a:cubicBezTo>
                  <a:close/>
                </a:path>
              </a:pathLst>
            </a:custGeom>
            <a:solidFill>
              <a:srgbClr val="1D2D44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-161925"/>
              <a:ext cx="622433" cy="48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2485" y="3379137"/>
            <a:ext cx="4346392" cy="1605173"/>
            <a:chOff x="0" y="0"/>
            <a:chExt cx="876433" cy="323677"/>
          </a:xfrm>
        </p:grpSpPr>
        <p:sp>
          <p:nvSpPr>
            <p:cNvPr id="6" name="Freeform 6"/>
            <p:cNvSpPr/>
            <p:nvPr/>
          </p:nvSpPr>
          <p:spPr>
            <a:xfrm>
              <a:off x="7005" y="0"/>
              <a:ext cx="862423" cy="323677"/>
            </a:xfrm>
            <a:custGeom>
              <a:avLst/>
              <a:gdLst/>
              <a:ahLst/>
              <a:cxnLst/>
              <a:rect l="l" t="t" r="r" b="b"/>
              <a:pathLst>
                <a:path w="862423" h="323677">
                  <a:moveTo>
                    <a:pt x="18906" y="0"/>
                  </a:moveTo>
                  <a:lnTo>
                    <a:pt x="843517" y="0"/>
                  </a:lnTo>
                  <a:cubicBezTo>
                    <a:pt x="849555" y="0"/>
                    <a:pt x="855230" y="2884"/>
                    <a:pt x="858789" y="7762"/>
                  </a:cubicBezTo>
                  <a:cubicBezTo>
                    <a:pt x="862349" y="12640"/>
                    <a:pt x="863364" y="18925"/>
                    <a:pt x="861521" y="24675"/>
                  </a:cubicBezTo>
                  <a:lnTo>
                    <a:pt x="773618" y="299001"/>
                  </a:lnTo>
                  <a:cubicBezTo>
                    <a:pt x="768907" y="313703"/>
                    <a:pt x="755237" y="323677"/>
                    <a:pt x="739800" y="323677"/>
                  </a:cubicBezTo>
                  <a:lnTo>
                    <a:pt x="122623" y="323677"/>
                  </a:lnTo>
                  <a:cubicBezTo>
                    <a:pt x="107185" y="323677"/>
                    <a:pt x="93516" y="313703"/>
                    <a:pt x="88805" y="299001"/>
                  </a:cubicBezTo>
                  <a:lnTo>
                    <a:pt x="902" y="24675"/>
                  </a:lnTo>
                  <a:cubicBezTo>
                    <a:pt x="-941" y="18925"/>
                    <a:pt x="74" y="12640"/>
                    <a:pt x="3633" y="7762"/>
                  </a:cubicBezTo>
                  <a:cubicBezTo>
                    <a:pt x="7193" y="2884"/>
                    <a:pt x="12868" y="0"/>
                    <a:pt x="18906" y="0"/>
                  </a:cubicBezTo>
                  <a:close/>
                </a:path>
              </a:pathLst>
            </a:custGeom>
            <a:solidFill>
              <a:srgbClr val="0446F1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-161925"/>
              <a:ext cx="622433" cy="48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500101" y="3379137"/>
            <a:ext cx="4346392" cy="1605173"/>
            <a:chOff x="0" y="0"/>
            <a:chExt cx="876433" cy="323677"/>
          </a:xfrm>
        </p:grpSpPr>
        <p:sp>
          <p:nvSpPr>
            <p:cNvPr id="9" name="Freeform 9"/>
            <p:cNvSpPr/>
            <p:nvPr/>
          </p:nvSpPr>
          <p:spPr>
            <a:xfrm>
              <a:off x="7005" y="0"/>
              <a:ext cx="862423" cy="323677"/>
            </a:xfrm>
            <a:custGeom>
              <a:avLst/>
              <a:gdLst/>
              <a:ahLst/>
              <a:cxnLst/>
              <a:rect l="l" t="t" r="r" b="b"/>
              <a:pathLst>
                <a:path w="862423" h="323677">
                  <a:moveTo>
                    <a:pt x="18906" y="0"/>
                  </a:moveTo>
                  <a:lnTo>
                    <a:pt x="843517" y="0"/>
                  </a:lnTo>
                  <a:cubicBezTo>
                    <a:pt x="849555" y="0"/>
                    <a:pt x="855230" y="2884"/>
                    <a:pt x="858789" y="7762"/>
                  </a:cubicBezTo>
                  <a:cubicBezTo>
                    <a:pt x="862349" y="12640"/>
                    <a:pt x="863364" y="18925"/>
                    <a:pt x="861521" y="24675"/>
                  </a:cubicBezTo>
                  <a:lnTo>
                    <a:pt x="773618" y="299001"/>
                  </a:lnTo>
                  <a:cubicBezTo>
                    <a:pt x="768907" y="313703"/>
                    <a:pt x="755237" y="323677"/>
                    <a:pt x="739800" y="323677"/>
                  </a:cubicBezTo>
                  <a:lnTo>
                    <a:pt x="122623" y="323677"/>
                  </a:lnTo>
                  <a:cubicBezTo>
                    <a:pt x="107185" y="323677"/>
                    <a:pt x="93516" y="313703"/>
                    <a:pt x="88805" y="299001"/>
                  </a:cubicBezTo>
                  <a:lnTo>
                    <a:pt x="902" y="24675"/>
                  </a:lnTo>
                  <a:cubicBezTo>
                    <a:pt x="-941" y="18925"/>
                    <a:pt x="74" y="12640"/>
                    <a:pt x="3633" y="7762"/>
                  </a:cubicBezTo>
                  <a:cubicBezTo>
                    <a:pt x="7193" y="2884"/>
                    <a:pt x="12868" y="0"/>
                    <a:pt x="18906" y="0"/>
                  </a:cubicBezTo>
                  <a:close/>
                </a:path>
              </a:pathLst>
            </a:custGeom>
            <a:solidFill>
              <a:srgbClr val="00C2E4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000" y="-161925"/>
              <a:ext cx="622433" cy="48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756798" y="4417057"/>
            <a:ext cx="2143125" cy="2143125"/>
          </a:xfrm>
          <a:custGeom>
            <a:avLst/>
            <a:gdLst/>
            <a:ahLst/>
            <a:cxnLst/>
            <a:rect l="l" t="t" r="r" b="b"/>
            <a:pathLst>
              <a:path w="2143125" h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775848" y="4436107"/>
            <a:ext cx="1677431" cy="167743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2D4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-85725"/>
              <a:ext cx="6604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8272787" y="4398007"/>
            <a:ext cx="2143125" cy="2143125"/>
          </a:xfrm>
          <a:custGeom>
            <a:avLst/>
            <a:gdLst/>
            <a:ahLst/>
            <a:cxnLst/>
            <a:rect l="l" t="t" r="r" b="b"/>
            <a:pathLst>
              <a:path w="2143125" h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8306965" y="4436107"/>
            <a:ext cx="1677431" cy="167743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46F1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-85725"/>
              <a:ext cx="6604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4778362" y="4378957"/>
            <a:ext cx="2143125" cy="2143125"/>
          </a:xfrm>
          <a:custGeom>
            <a:avLst/>
            <a:gdLst/>
            <a:ahLst/>
            <a:cxnLst/>
            <a:rect l="l" t="t" r="r" b="b"/>
            <a:pathLst>
              <a:path w="2143125" h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4834721" y="4436107"/>
            <a:ext cx="1677431" cy="167743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2E4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-85725"/>
              <a:ext cx="6604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-10800000">
            <a:off x="3708607" y="6877500"/>
            <a:ext cx="4346392" cy="1605173"/>
            <a:chOff x="0" y="0"/>
            <a:chExt cx="876433" cy="323677"/>
          </a:xfrm>
        </p:grpSpPr>
        <p:sp>
          <p:nvSpPr>
            <p:cNvPr id="24" name="Freeform 24"/>
            <p:cNvSpPr/>
            <p:nvPr/>
          </p:nvSpPr>
          <p:spPr>
            <a:xfrm>
              <a:off x="7005" y="0"/>
              <a:ext cx="862423" cy="323677"/>
            </a:xfrm>
            <a:custGeom>
              <a:avLst/>
              <a:gdLst/>
              <a:ahLst/>
              <a:cxnLst/>
              <a:rect l="l" t="t" r="r" b="b"/>
              <a:pathLst>
                <a:path w="862423" h="323677">
                  <a:moveTo>
                    <a:pt x="18906" y="0"/>
                  </a:moveTo>
                  <a:lnTo>
                    <a:pt x="843517" y="0"/>
                  </a:lnTo>
                  <a:cubicBezTo>
                    <a:pt x="849555" y="0"/>
                    <a:pt x="855230" y="2884"/>
                    <a:pt x="858789" y="7762"/>
                  </a:cubicBezTo>
                  <a:cubicBezTo>
                    <a:pt x="862349" y="12640"/>
                    <a:pt x="863364" y="18925"/>
                    <a:pt x="861521" y="24675"/>
                  </a:cubicBezTo>
                  <a:lnTo>
                    <a:pt x="773618" y="299001"/>
                  </a:lnTo>
                  <a:cubicBezTo>
                    <a:pt x="768907" y="313703"/>
                    <a:pt x="755237" y="323677"/>
                    <a:pt x="739800" y="323677"/>
                  </a:cubicBezTo>
                  <a:lnTo>
                    <a:pt x="122623" y="323677"/>
                  </a:lnTo>
                  <a:cubicBezTo>
                    <a:pt x="107185" y="323677"/>
                    <a:pt x="93516" y="313703"/>
                    <a:pt x="88805" y="299001"/>
                  </a:cubicBezTo>
                  <a:lnTo>
                    <a:pt x="902" y="24675"/>
                  </a:lnTo>
                  <a:cubicBezTo>
                    <a:pt x="-941" y="18925"/>
                    <a:pt x="74" y="12640"/>
                    <a:pt x="3633" y="7762"/>
                  </a:cubicBezTo>
                  <a:cubicBezTo>
                    <a:pt x="7193" y="2884"/>
                    <a:pt x="12868" y="0"/>
                    <a:pt x="18906" y="0"/>
                  </a:cubicBezTo>
                  <a:close/>
                </a:path>
              </a:pathLst>
            </a:custGeom>
            <a:solidFill>
              <a:srgbClr val="023E9F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7000" y="-161925"/>
              <a:ext cx="622433" cy="48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-10800000">
            <a:off x="10236363" y="6877500"/>
            <a:ext cx="4346392" cy="1605173"/>
            <a:chOff x="0" y="0"/>
            <a:chExt cx="876433" cy="323677"/>
          </a:xfrm>
        </p:grpSpPr>
        <p:sp>
          <p:nvSpPr>
            <p:cNvPr id="27" name="Freeform 27"/>
            <p:cNvSpPr/>
            <p:nvPr/>
          </p:nvSpPr>
          <p:spPr>
            <a:xfrm>
              <a:off x="7005" y="0"/>
              <a:ext cx="862423" cy="323677"/>
            </a:xfrm>
            <a:custGeom>
              <a:avLst/>
              <a:gdLst/>
              <a:ahLst/>
              <a:cxnLst/>
              <a:rect l="l" t="t" r="r" b="b"/>
              <a:pathLst>
                <a:path w="862423" h="323677">
                  <a:moveTo>
                    <a:pt x="18906" y="0"/>
                  </a:moveTo>
                  <a:lnTo>
                    <a:pt x="843517" y="0"/>
                  </a:lnTo>
                  <a:cubicBezTo>
                    <a:pt x="849555" y="0"/>
                    <a:pt x="855230" y="2884"/>
                    <a:pt x="858789" y="7762"/>
                  </a:cubicBezTo>
                  <a:cubicBezTo>
                    <a:pt x="862349" y="12640"/>
                    <a:pt x="863364" y="18925"/>
                    <a:pt x="861521" y="24675"/>
                  </a:cubicBezTo>
                  <a:lnTo>
                    <a:pt x="773618" y="299001"/>
                  </a:lnTo>
                  <a:cubicBezTo>
                    <a:pt x="768907" y="313703"/>
                    <a:pt x="755237" y="323677"/>
                    <a:pt x="739800" y="323677"/>
                  </a:cubicBezTo>
                  <a:lnTo>
                    <a:pt x="122623" y="323677"/>
                  </a:lnTo>
                  <a:cubicBezTo>
                    <a:pt x="107185" y="323677"/>
                    <a:pt x="93516" y="313703"/>
                    <a:pt x="88805" y="299001"/>
                  </a:cubicBezTo>
                  <a:lnTo>
                    <a:pt x="902" y="24675"/>
                  </a:lnTo>
                  <a:cubicBezTo>
                    <a:pt x="-941" y="18925"/>
                    <a:pt x="74" y="12640"/>
                    <a:pt x="3633" y="7762"/>
                  </a:cubicBezTo>
                  <a:cubicBezTo>
                    <a:pt x="7193" y="2884"/>
                    <a:pt x="12868" y="0"/>
                    <a:pt x="18906" y="0"/>
                  </a:cubicBezTo>
                  <a:close/>
                </a:path>
              </a:pathLst>
            </a:custGeom>
            <a:solidFill>
              <a:srgbClr val="0495F1"/>
            </a:solidFill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7000" y="-161925"/>
              <a:ext cx="622433" cy="485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sp>
        <p:nvSpPr>
          <p:cNvPr id="29" name="Freeform 29"/>
          <p:cNvSpPr/>
          <p:nvPr/>
        </p:nvSpPr>
        <p:spPr>
          <a:xfrm>
            <a:off x="5031881" y="5723014"/>
            <a:ext cx="2143125" cy="2143125"/>
          </a:xfrm>
          <a:custGeom>
            <a:avLst/>
            <a:gdLst/>
            <a:ahLst/>
            <a:cxnLst/>
            <a:rect l="l" t="t" r="r" b="b"/>
            <a:pathLst>
              <a:path w="2143125" h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5043087" y="5751589"/>
            <a:ext cx="1677431" cy="167743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3E9F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-85725"/>
              <a:ext cx="6604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sp>
        <p:nvSpPr>
          <p:cNvPr id="33" name="Freeform 33"/>
          <p:cNvSpPr/>
          <p:nvPr/>
        </p:nvSpPr>
        <p:spPr>
          <a:xfrm>
            <a:off x="11511287" y="5694439"/>
            <a:ext cx="2143125" cy="2143125"/>
          </a:xfrm>
          <a:custGeom>
            <a:avLst/>
            <a:gdLst/>
            <a:ahLst/>
            <a:cxnLst/>
            <a:rect l="l" t="t" r="r" b="b"/>
            <a:pathLst>
              <a:path w="2143125" h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11570843" y="5751589"/>
            <a:ext cx="1677431" cy="167743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95F1"/>
            </a:solid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latin typeface="Freesentation 4 Regular" pitchFamily="2" charset="-127"/>
                <a:ea typeface="Freesentation 4 Regular" pitchFamily="2" charset="-127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-85725"/>
              <a:ext cx="6604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>
                <a:latin typeface="Freesentation 4 Regular" pitchFamily="2" charset="-127"/>
                <a:ea typeface="Freesentation 4 Regular" pitchFamily="2" charset="-127"/>
              </a:endParaRPr>
            </a:p>
          </p:txBody>
        </p:sp>
      </p:grpSp>
      <p:sp>
        <p:nvSpPr>
          <p:cNvPr id="37" name="AutoShape 37"/>
          <p:cNvSpPr/>
          <p:nvPr/>
        </p:nvSpPr>
        <p:spPr>
          <a:xfrm>
            <a:off x="3453279" y="5274823"/>
            <a:ext cx="1589808" cy="1315481"/>
          </a:xfrm>
          <a:prstGeom prst="line">
            <a:avLst/>
          </a:prstGeom>
          <a:ln w="47625" cap="flat">
            <a:solidFill>
              <a:srgbClr val="0B142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38" name="AutoShape 38"/>
          <p:cNvSpPr/>
          <p:nvPr/>
        </p:nvSpPr>
        <p:spPr>
          <a:xfrm flipV="1">
            <a:off x="6720518" y="5274823"/>
            <a:ext cx="1586446" cy="1315481"/>
          </a:xfrm>
          <a:prstGeom prst="line">
            <a:avLst/>
          </a:prstGeom>
          <a:ln w="47625" cap="flat">
            <a:solidFill>
              <a:srgbClr val="1D2D4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39" name="AutoShape 39"/>
          <p:cNvSpPr/>
          <p:nvPr/>
        </p:nvSpPr>
        <p:spPr>
          <a:xfrm flipV="1">
            <a:off x="13248274" y="5274823"/>
            <a:ext cx="1586446" cy="1315481"/>
          </a:xfrm>
          <a:prstGeom prst="line">
            <a:avLst/>
          </a:prstGeom>
          <a:ln w="47625" cap="flat">
            <a:solidFill>
              <a:srgbClr val="748CAB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984396" y="5274823"/>
            <a:ext cx="1586446" cy="1315481"/>
          </a:xfrm>
          <a:prstGeom prst="line">
            <a:avLst/>
          </a:prstGeom>
          <a:ln w="47625" cap="flat">
            <a:solidFill>
              <a:srgbClr val="3E5C75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41" name="Freeform 41"/>
          <p:cNvSpPr/>
          <p:nvPr/>
        </p:nvSpPr>
        <p:spPr>
          <a:xfrm>
            <a:off x="2315493" y="4928623"/>
            <a:ext cx="692399" cy="692399"/>
          </a:xfrm>
          <a:custGeom>
            <a:avLst/>
            <a:gdLst/>
            <a:ahLst/>
            <a:cxnLst/>
            <a:rect l="l" t="t" r="r" b="b"/>
            <a:pathLst>
              <a:path w="692399" h="692399">
                <a:moveTo>
                  <a:pt x="0" y="0"/>
                </a:moveTo>
                <a:lnTo>
                  <a:pt x="692399" y="0"/>
                </a:lnTo>
                <a:lnTo>
                  <a:pt x="692399" y="692399"/>
                </a:lnTo>
                <a:lnTo>
                  <a:pt x="0" y="692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5546080" y="6113539"/>
            <a:ext cx="671446" cy="1087361"/>
          </a:xfrm>
          <a:custGeom>
            <a:avLst/>
            <a:gdLst/>
            <a:ahLst/>
            <a:cxnLst/>
            <a:rect l="l" t="t" r="r" b="b"/>
            <a:pathLst>
              <a:path w="671446" h="1087361">
                <a:moveTo>
                  <a:pt x="0" y="0"/>
                </a:moveTo>
                <a:lnTo>
                  <a:pt x="671445" y="0"/>
                </a:lnTo>
                <a:lnTo>
                  <a:pt x="671445" y="1087361"/>
                </a:lnTo>
                <a:lnTo>
                  <a:pt x="0" y="10873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8704138" y="4843290"/>
            <a:ext cx="879724" cy="879724"/>
          </a:xfrm>
          <a:custGeom>
            <a:avLst/>
            <a:gdLst/>
            <a:ahLst/>
            <a:cxnLst/>
            <a:rect l="l" t="t" r="r" b="b"/>
            <a:pathLst>
              <a:path w="879724" h="879724">
                <a:moveTo>
                  <a:pt x="0" y="0"/>
                </a:moveTo>
                <a:lnTo>
                  <a:pt x="879724" y="0"/>
                </a:lnTo>
                <a:lnTo>
                  <a:pt x="879724" y="879724"/>
                </a:lnTo>
                <a:lnTo>
                  <a:pt x="0" y="8797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12003115" y="6276178"/>
            <a:ext cx="812887" cy="762082"/>
          </a:xfrm>
          <a:custGeom>
            <a:avLst/>
            <a:gdLst/>
            <a:ahLst/>
            <a:cxnLst/>
            <a:rect l="l" t="t" r="r" b="b"/>
            <a:pathLst>
              <a:path w="812887" h="762082">
                <a:moveTo>
                  <a:pt x="0" y="0"/>
                </a:moveTo>
                <a:lnTo>
                  <a:pt x="812887" y="0"/>
                </a:lnTo>
                <a:lnTo>
                  <a:pt x="812887" y="762082"/>
                </a:lnTo>
                <a:lnTo>
                  <a:pt x="0" y="7620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15234771" y="4889786"/>
            <a:ext cx="865046" cy="861802"/>
          </a:xfrm>
          <a:custGeom>
            <a:avLst/>
            <a:gdLst/>
            <a:ahLst/>
            <a:cxnLst/>
            <a:rect l="l" t="t" r="r" b="b"/>
            <a:pathLst>
              <a:path w="865046" h="861802">
                <a:moveTo>
                  <a:pt x="0" y="0"/>
                </a:moveTo>
                <a:lnTo>
                  <a:pt x="865046" y="0"/>
                </a:lnTo>
                <a:lnTo>
                  <a:pt x="865046" y="861803"/>
                </a:lnTo>
                <a:lnTo>
                  <a:pt x="0" y="86180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28700" y="1019175"/>
            <a:ext cx="859087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개발</a:t>
            </a:r>
            <a:r>
              <a:rPr lang="en-US" sz="5400" b="1" dirty="0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 </a:t>
            </a:r>
            <a:r>
              <a:rPr lang="en-US" sz="5400" b="1" dirty="0" err="1">
                <a:solidFill>
                  <a:srgbClr val="023E9F"/>
                </a:solidFill>
                <a:latin typeface="Freesentation 7 Bold" pitchFamily="2" charset="-127"/>
                <a:ea typeface="Freesentation 7 Bold" pitchFamily="2" charset="-127"/>
                <a:cs typeface="Red Hat Display Bold"/>
                <a:sym typeface="Red Hat Display Bold"/>
              </a:rPr>
              <a:t>계획</a:t>
            </a:r>
            <a:endParaRPr lang="en-US" sz="5400" b="1" dirty="0">
              <a:solidFill>
                <a:srgbClr val="023E9F"/>
              </a:solidFill>
              <a:latin typeface="Freesentation 7 Bold" pitchFamily="2" charset="-127"/>
              <a:ea typeface="Freesentation 7 Bold" pitchFamily="2" charset="-127"/>
              <a:cs typeface="Red Hat Display Bold"/>
              <a:sym typeface="Red Hat Display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5507016" y="7711588"/>
            <a:ext cx="749573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Freesentation 7 Bold" pitchFamily="2" charset="-127"/>
                <a:ea typeface="Freesentation 7 Bold" pitchFamily="2" charset="-127"/>
                <a:cs typeface="Seol Sans Bold"/>
                <a:sym typeface="Seol Sans Bold"/>
              </a:rPr>
              <a:t>Pose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315493" y="3771900"/>
            <a:ext cx="598140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 dirty="0" err="1">
                <a:solidFill>
                  <a:srgbClr val="FFFFFF"/>
                </a:solidFill>
                <a:latin typeface="Freesentation 7 Bold" pitchFamily="2" charset="-127"/>
                <a:ea typeface="Freesentation 7 Bold" pitchFamily="2" charset="-127"/>
                <a:cs typeface="Seol Sans Bold"/>
                <a:sym typeface="Seol Sans Bold"/>
              </a:rPr>
              <a:t>조사</a:t>
            </a:r>
            <a:endParaRPr lang="en-US" sz="2499" b="1" dirty="0">
              <a:solidFill>
                <a:srgbClr val="FFFFFF"/>
              </a:solidFill>
              <a:latin typeface="Freesentation 7 Bold" pitchFamily="2" charset="-127"/>
              <a:ea typeface="Freesentation 7 Bold" pitchFamily="2" charset="-127"/>
              <a:cs typeface="Seol Sans Bold"/>
              <a:sym typeface="Seol Sans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8554386" y="3771900"/>
            <a:ext cx="1182588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Freesentation 7 Bold" pitchFamily="2" charset="-127"/>
                <a:ea typeface="Freesentation 7 Bold" pitchFamily="2" charset="-127"/>
                <a:cs typeface="Seol Sans Bold"/>
                <a:sym typeface="Seol Sans Bold"/>
              </a:rPr>
              <a:t>알고리즘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042154" y="3771900"/>
            <a:ext cx="1262286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Freesentation 7 Bold" pitchFamily="2" charset="-127"/>
                <a:ea typeface="Freesentation 7 Bold" pitchFamily="2" charset="-127"/>
                <a:cs typeface="Seol Sans Bold"/>
                <a:sym typeface="Seol Sans Bold"/>
              </a:rPr>
              <a:t>결과 정리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959837" y="7711588"/>
            <a:ext cx="899443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Freesentation 7 Bold" pitchFamily="2" charset="-127"/>
                <a:ea typeface="Freesentation 7 Bold" pitchFamily="2" charset="-127"/>
                <a:cs typeface="Seol Sans Bold"/>
                <a:sym typeface="Seol Sans Bold"/>
              </a:rPr>
              <a:t>앱개발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498448" y="8641216"/>
            <a:ext cx="2766707" cy="64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Pose Estimation </a:t>
            </a:r>
          </a:p>
          <a:p>
            <a:pPr algn="ctr">
              <a:lnSpc>
                <a:spcPts val="2599"/>
              </a:lnSpc>
            </a:pP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모델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구현</a:t>
            </a:r>
            <a:endParaRPr lang="en-US" sz="1999" dirty="0">
              <a:solidFill>
                <a:srgbClr val="545454"/>
              </a:solidFill>
              <a:latin typeface="Freesentation 4 Regular" pitchFamily="2" charset="-127"/>
              <a:ea typeface="Freesentation 4 Regular" pitchFamily="2" charset="-127"/>
              <a:cs typeface="Seol Sans"/>
              <a:sym typeface="Seol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133216" y="2626260"/>
            <a:ext cx="2766707" cy="64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아이디어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구체화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및</a:t>
            </a:r>
            <a:endParaRPr lang="en-US" sz="1999" dirty="0">
              <a:solidFill>
                <a:srgbClr val="545454"/>
              </a:solidFill>
              <a:latin typeface="Freesentation 4 Regular" pitchFamily="2" charset="-127"/>
              <a:ea typeface="Freesentation 4 Regular" pitchFamily="2" charset="-127"/>
              <a:cs typeface="Seol Sans"/>
              <a:sym typeface="Seol Sans"/>
            </a:endParaRPr>
          </a:p>
          <a:p>
            <a:pPr algn="ctr">
              <a:lnSpc>
                <a:spcPts val="2599"/>
              </a:lnSpc>
            </a:pP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기술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조사</a:t>
            </a:r>
            <a:endParaRPr lang="en-US" sz="1999" dirty="0">
              <a:solidFill>
                <a:srgbClr val="545454"/>
              </a:solidFill>
              <a:latin typeface="Freesentation 4 Regular" pitchFamily="2" charset="-127"/>
              <a:ea typeface="Freesentation 4 Regular" pitchFamily="2" charset="-127"/>
              <a:cs typeface="Seol Sans"/>
              <a:sym typeface="Seol Sans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7756323" y="2898335"/>
            <a:ext cx="2766707" cy="31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자세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분석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알고리즘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개발</a:t>
            </a:r>
            <a:endParaRPr lang="en-US" sz="1999" dirty="0">
              <a:solidFill>
                <a:srgbClr val="545454"/>
              </a:solidFill>
              <a:latin typeface="Freesentation 4 Regular" pitchFamily="2" charset="-127"/>
              <a:ea typeface="Freesentation 4 Regular" pitchFamily="2" charset="-127"/>
              <a:cs typeface="Seol Sans"/>
              <a:sym typeface="Seol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199495" y="8659159"/>
            <a:ext cx="2766707" cy="644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모바일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앱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및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</a:p>
          <a:p>
            <a:pPr algn="ctr">
              <a:lnSpc>
                <a:spcPts val="2599"/>
              </a:lnSpc>
            </a:pP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실시간</a:t>
            </a:r>
            <a:r>
              <a:rPr lang="en-US" sz="1999" dirty="0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 </a:t>
            </a:r>
            <a:r>
              <a:rPr lang="en-US" sz="1999" dirty="0" err="1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피드백</a:t>
            </a:r>
            <a:endParaRPr lang="en-US" sz="1999" dirty="0">
              <a:solidFill>
                <a:srgbClr val="545454"/>
              </a:solidFill>
              <a:latin typeface="Freesentation 4 Regular" pitchFamily="2" charset="-127"/>
              <a:ea typeface="Freesentation 4 Regular" pitchFamily="2" charset="-127"/>
              <a:cs typeface="Seol Sans"/>
              <a:sym typeface="Seol San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4283940" y="2898335"/>
            <a:ext cx="2766707" cy="31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999">
                <a:solidFill>
                  <a:srgbClr val="545454"/>
                </a:solidFill>
                <a:latin typeface="Freesentation 4 Regular" pitchFamily="2" charset="-127"/>
                <a:ea typeface="Freesentation 4 Regular" pitchFamily="2" charset="-127"/>
                <a:cs typeface="Seol Sans"/>
                <a:sym typeface="Seol Sans"/>
              </a:rPr>
              <a:t>결과 정리 및 확장 계획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8799" y="7469657"/>
            <a:ext cx="18645599" cy="3039888"/>
            <a:chOff x="0" y="0"/>
            <a:chExt cx="6801965" cy="11089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1965" cy="1108959"/>
            </a:xfrm>
            <a:custGeom>
              <a:avLst/>
              <a:gdLst/>
              <a:ahLst/>
              <a:cxnLst/>
              <a:rect l="l" t="t" r="r" b="b"/>
              <a:pathLst>
                <a:path w="6801965" h="1108959">
                  <a:moveTo>
                    <a:pt x="0" y="0"/>
                  </a:moveTo>
                  <a:lnTo>
                    <a:pt x="6801965" y="0"/>
                  </a:lnTo>
                  <a:lnTo>
                    <a:pt x="6801965" y="1108959"/>
                  </a:lnTo>
                  <a:lnTo>
                    <a:pt x="0" y="1108959"/>
                  </a:lnTo>
                  <a:close/>
                </a:path>
              </a:pathLst>
            </a:custGeom>
            <a:solidFill>
              <a:srgbClr val="1764DF"/>
            </a:solid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999223" y="1028700"/>
            <a:ext cx="6163233" cy="4801540"/>
            <a:chOff x="0" y="0"/>
            <a:chExt cx="8217644" cy="6402053"/>
          </a:xfrm>
        </p:grpSpPr>
        <p:grpSp>
          <p:nvGrpSpPr>
            <p:cNvPr id="5" name="Group 5"/>
            <p:cNvGrpSpPr>
              <a:grpSpLocks noChangeAspect="1"/>
            </p:cNvGrpSpPr>
            <p:nvPr/>
          </p:nvGrpSpPr>
          <p:grpSpPr>
            <a:xfrm>
              <a:off x="0" y="0"/>
              <a:ext cx="7973750" cy="6402053"/>
              <a:chOff x="0" y="0"/>
              <a:chExt cx="7467600" cy="599567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7467600" cy="4513580"/>
              </a:xfrm>
              <a:custGeom>
                <a:avLst/>
                <a:gdLst/>
                <a:ahLst/>
                <a:cxnLst/>
                <a:rect l="l" t="t" r="r" b="b"/>
                <a:pathLst>
                  <a:path w="7467600" h="4513580">
                    <a:moveTo>
                      <a:pt x="7127240" y="0"/>
                    </a:moveTo>
                    <a:lnTo>
                      <a:pt x="340360" y="0"/>
                    </a:lnTo>
                    <a:cubicBezTo>
                      <a:pt x="152400" y="0"/>
                      <a:pt x="0" y="152400"/>
                      <a:pt x="0" y="340360"/>
                    </a:cubicBezTo>
                    <a:lnTo>
                      <a:pt x="0" y="4513580"/>
                    </a:lnTo>
                    <a:lnTo>
                      <a:pt x="7467600" y="4513580"/>
                    </a:lnTo>
                    <a:lnTo>
                      <a:pt x="7467600" y="340360"/>
                    </a:lnTo>
                    <a:cubicBezTo>
                      <a:pt x="7467600" y="152400"/>
                      <a:pt x="7315200" y="0"/>
                      <a:pt x="7127240" y="0"/>
                    </a:cubicBezTo>
                    <a:close/>
                    <a:moveTo>
                      <a:pt x="7142480" y="4188460"/>
                    </a:moveTo>
                    <a:lnTo>
                      <a:pt x="314961" y="4188460"/>
                    </a:lnTo>
                    <a:lnTo>
                      <a:pt x="314961" y="353060"/>
                    </a:lnTo>
                    <a:lnTo>
                      <a:pt x="7142480" y="353060"/>
                    </a:lnTo>
                    <a:lnTo>
                      <a:pt x="7142480" y="41884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0" y="4514850"/>
                <a:ext cx="7467600" cy="695960"/>
              </a:xfrm>
              <a:custGeom>
                <a:avLst/>
                <a:gdLst/>
                <a:ahLst/>
                <a:cxnLst/>
                <a:rect l="l" t="t" r="r" b="b"/>
                <a:pathLst>
                  <a:path w="7467600" h="695960">
                    <a:moveTo>
                      <a:pt x="0" y="355600"/>
                    </a:moveTo>
                    <a:cubicBezTo>
                      <a:pt x="0" y="543560"/>
                      <a:pt x="152400" y="695960"/>
                      <a:pt x="340360" y="695960"/>
                    </a:cubicBezTo>
                    <a:lnTo>
                      <a:pt x="7127240" y="695960"/>
                    </a:lnTo>
                    <a:cubicBezTo>
                      <a:pt x="7315200" y="695960"/>
                      <a:pt x="7467600" y="543560"/>
                      <a:pt x="7467600" y="355600"/>
                    </a:cubicBezTo>
                    <a:lnTo>
                      <a:pt x="7467600" y="0"/>
                    </a:lnTo>
                    <a:lnTo>
                      <a:pt x="0" y="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E9E9E9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2434265" y="5210810"/>
                <a:ext cx="2596530" cy="786130"/>
              </a:xfrm>
              <a:custGeom>
                <a:avLst/>
                <a:gdLst/>
                <a:ahLst/>
                <a:cxnLst/>
                <a:rect l="l" t="t" r="r" b="b"/>
                <a:pathLst>
                  <a:path w="2596530" h="786130">
                    <a:moveTo>
                      <a:pt x="1253815" y="0"/>
                    </a:moveTo>
                    <a:lnTo>
                      <a:pt x="448635" y="0"/>
                    </a:lnTo>
                    <a:cubicBezTo>
                      <a:pt x="448635" y="0"/>
                      <a:pt x="424505" y="370840"/>
                      <a:pt x="399105" y="525780"/>
                    </a:cubicBezTo>
                    <a:cubicBezTo>
                      <a:pt x="354655" y="791210"/>
                      <a:pt x="82875" y="706120"/>
                      <a:pt x="5405" y="762000"/>
                    </a:cubicBezTo>
                    <a:cubicBezTo>
                      <a:pt x="-4755" y="769620"/>
                      <a:pt x="325" y="786130"/>
                      <a:pt x="13025" y="786130"/>
                    </a:cubicBezTo>
                    <a:lnTo>
                      <a:pt x="2583505" y="786130"/>
                    </a:lnTo>
                    <a:cubicBezTo>
                      <a:pt x="2596205" y="786130"/>
                      <a:pt x="2601285" y="769620"/>
                      <a:pt x="2591125" y="762000"/>
                    </a:cubicBezTo>
                    <a:cubicBezTo>
                      <a:pt x="2513655" y="706120"/>
                      <a:pt x="2241875" y="791210"/>
                      <a:pt x="2197425" y="525780"/>
                    </a:cubicBezTo>
                    <a:cubicBezTo>
                      <a:pt x="2172025" y="370840"/>
                      <a:pt x="2147895" y="0"/>
                      <a:pt x="2147895" y="0"/>
                    </a:cubicBezTo>
                    <a:lnTo>
                      <a:pt x="1253815" y="0"/>
                    </a:lnTo>
                    <a:close/>
                  </a:path>
                </a:pathLst>
              </a:custGeom>
              <a:solidFill>
                <a:srgbClr val="BBBBBB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314960" y="353060"/>
                <a:ext cx="6827520" cy="3835400"/>
              </a:xfrm>
              <a:custGeom>
                <a:avLst/>
                <a:gdLst/>
                <a:ahLst/>
                <a:cxnLst/>
                <a:rect l="l" t="t" r="r" b="b"/>
                <a:pathLst>
                  <a:path w="6827520" h="383540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3835400"/>
                    </a:lnTo>
                    <a:lnTo>
                      <a:pt x="0" y="38354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62596" t="-9205" r="-62745" b="-47119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313042" y="252163"/>
              <a:ext cx="7430487" cy="4280239"/>
            </a:xfrm>
            <a:custGeom>
              <a:avLst/>
              <a:gdLst/>
              <a:ahLst/>
              <a:cxnLst/>
              <a:rect l="l" t="t" r="r" b="b"/>
              <a:pathLst>
                <a:path w="7430487" h="4280239">
                  <a:moveTo>
                    <a:pt x="0" y="0"/>
                  </a:moveTo>
                  <a:lnTo>
                    <a:pt x="7430488" y="0"/>
                  </a:lnTo>
                  <a:lnTo>
                    <a:pt x="7430488" y="4280239"/>
                  </a:lnTo>
                  <a:lnTo>
                    <a:pt x="0" y="4280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153" t="-11410" r="-8971" b="-28770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13042" y="252163"/>
              <a:ext cx="7430487" cy="4280239"/>
              <a:chOff x="0" y="0"/>
              <a:chExt cx="6382260" cy="367642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82260" cy="3676420"/>
              </a:xfrm>
              <a:custGeom>
                <a:avLst/>
                <a:gdLst/>
                <a:ahLst/>
                <a:cxnLst/>
                <a:rect l="l" t="t" r="r" b="b"/>
                <a:pathLst>
                  <a:path w="6382260" h="3676420">
                    <a:moveTo>
                      <a:pt x="0" y="0"/>
                    </a:moveTo>
                    <a:lnTo>
                      <a:pt x="6382260" y="0"/>
                    </a:lnTo>
                    <a:lnTo>
                      <a:pt x="6382260" y="3676420"/>
                    </a:lnTo>
                    <a:lnTo>
                      <a:pt x="0" y="3676420"/>
                    </a:lnTo>
                    <a:close/>
                  </a:path>
                </a:pathLst>
              </a:custGeom>
              <a:solidFill>
                <a:srgbClr val="023E9F">
                  <a:alpha val="84706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5216287" y="1363596"/>
              <a:ext cx="3001358" cy="3017818"/>
            </a:xfrm>
            <a:custGeom>
              <a:avLst/>
              <a:gdLst/>
              <a:ahLst/>
              <a:cxnLst/>
              <a:rect l="l" t="t" r="r" b="b"/>
              <a:pathLst>
                <a:path w="3001358" h="3017818">
                  <a:moveTo>
                    <a:pt x="0" y="0"/>
                  </a:moveTo>
                  <a:lnTo>
                    <a:pt x="3001357" y="0"/>
                  </a:lnTo>
                  <a:lnTo>
                    <a:pt x="3001357" y="3017818"/>
                  </a:lnTo>
                  <a:lnTo>
                    <a:pt x="0" y="3017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14"/>
            <p:cNvSpPr/>
            <p:nvPr/>
          </p:nvSpPr>
          <p:spPr>
            <a:xfrm flipH="1">
              <a:off x="3382587" y="1363596"/>
              <a:ext cx="3001358" cy="3017818"/>
            </a:xfrm>
            <a:custGeom>
              <a:avLst/>
              <a:gdLst/>
              <a:ahLst/>
              <a:cxnLst/>
              <a:rect l="l" t="t" r="r" b="b"/>
              <a:pathLst>
                <a:path w="3001358" h="3017818">
                  <a:moveTo>
                    <a:pt x="3001358" y="0"/>
                  </a:moveTo>
                  <a:lnTo>
                    <a:pt x="0" y="0"/>
                  </a:lnTo>
                  <a:lnTo>
                    <a:pt x="0" y="3017818"/>
                  </a:lnTo>
                  <a:lnTo>
                    <a:pt x="3001358" y="3017818"/>
                  </a:lnTo>
                  <a:lnTo>
                    <a:pt x="3001358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3351" y="921852"/>
              <a:ext cx="1976371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BPT</a:t>
              </a: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6194984" y="3506591"/>
            <a:ext cx="1608477" cy="3238545"/>
            <a:chOff x="0" y="0"/>
            <a:chExt cx="9461500" cy="19050000"/>
          </a:xfrm>
        </p:grpSpPr>
        <p:sp>
          <p:nvSpPr>
            <p:cNvPr id="17" name="Freeform 17"/>
            <p:cNvSpPr/>
            <p:nvPr/>
          </p:nvSpPr>
          <p:spPr>
            <a:xfrm>
              <a:off x="400304" y="312801"/>
              <a:ext cx="8650859" cy="18424398"/>
            </a:xfrm>
            <a:custGeom>
              <a:avLst/>
              <a:gdLst/>
              <a:ahLst/>
              <a:cxnLst/>
              <a:rect l="l" t="t" r="r" b="b"/>
              <a:pathLst>
                <a:path w="8650859" h="18424398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6"/>
              <a:stretch>
                <a:fillRect l="-63078" t="-379" r="-24284" b="-3141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9461500" cy="19050000"/>
            </a:xfrm>
            <a:custGeom>
              <a:avLst/>
              <a:gdLst/>
              <a:ahLst/>
              <a:cxnLst/>
              <a:rect l="l" t="t" r="r" b="b"/>
              <a:pathLst>
                <a:path w="9461500" h="190500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7"/>
              <a:stretch>
                <a:fillRect l="-83" r="-83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31314" y="3865111"/>
            <a:ext cx="1135817" cy="423505"/>
            <a:chOff x="0" y="0"/>
            <a:chExt cx="1514422" cy="564673"/>
          </a:xfrm>
        </p:grpSpPr>
        <p:sp>
          <p:nvSpPr>
            <p:cNvPr id="20" name="TextBox 20"/>
            <p:cNvSpPr txBox="1"/>
            <p:nvPr/>
          </p:nvSpPr>
          <p:spPr>
            <a:xfrm>
              <a:off x="822184" y="86613"/>
              <a:ext cx="692238" cy="381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56"/>
                </a:lnSpc>
              </a:pPr>
              <a:r>
                <a:rPr lang="en-US" sz="1880" b="1">
                  <a:solidFill>
                    <a:srgbClr val="023E9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BPT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343109" y="0"/>
              <a:ext cx="561593" cy="564673"/>
            </a:xfrm>
            <a:custGeom>
              <a:avLst/>
              <a:gdLst/>
              <a:ahLst/>
              <a:cxnLst/>
              <a:rect l="l" t="t" r="r" b="b"/>
              <a:pathLst>
                <a:path w="561593" h="564673">
                  <a:moveTo>
                    <a:pt x="0" y="0"/>
                  </a:moveTo>
                  <a:lnTo>
                    <a:pt x="561592" y="0"/>
                  </a:lnTo>
                  <a:lnTo>
                    <a:pt x="561592" y="564673"/>
                  </a:lnTo>
                  <a:lnTo>
                    <a:pt x="0" y="564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22"/>
            <p:cNvSpPr/>
            <p:nvPr/>
          </p:nvSpPr>
          <p:spPr>
            <a:xfrm flipH="1">
              <a:off x="0" y="0"/>
              <a:ext cx="561593" cy="564673"/>
            </a:xfrm>
            <a:custGeom>
              <a:avLst/>
              <a:gdLst/>
              <a:ahLst/>
              <a:cxnLst/>
              <a:rect l="l" t="t" r="r" b="b"/>
              <a:pathLst>
                <a:path w="561593" h="564673">
                  <a:moveTo>
                    <a:pt x="561593" y="0"/>
                  </a:moveTo>
                  <a:lnTo>
                    <a:pt x="0" y="0"/>
                  </a:lnTo>
                  <a:lnTo>
                    <a:pt x="0" y="564673"/>
                  </a:lnTo>
                  <a:lnTo>
                    <a:pt x="561593" y="564673"/>
                  </a:lnTo>
                  <a:lnTo>
                    <a:pt x="561593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68344" y="3506591"/>
            <a:ext cx="1608477" cy="3238545"/>
            <a:chOff x="0" y="0"/>
            <a:chExt cx="2144637" cy="4318060"/>
          </a:xfrm>
        </p:grpSpPr>
        <p:grpSp>
          <p:nvGrpSpPr>
            <p:cNvPr id="24" name="Group 24"/>
            <p:cNvGrpSpPr>
              <a:grpSpLocks noChangeAspect="1"/>
            </p:cNvGrpSpPr>
            <p:nvPr/>
          </p:nvGrpSpPr>
          <p:grpSpPr>
            <a:xfrm>
              <a:off x="0" y="0"/>
              <a:ext cx="2144637" cy="4318060"/>
              <a:chOff x="0" y="0"/>
              <a:chExt cx="9461500" cy="190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00304" y="312801"/>
                <a:ext cx="8650859" cy="18424398"/>
              </a:xfrm>
              <a:custGeom>
                <a:avLst/>
                <a:gdLst/>
                <a:ahLst/>
                <a:cxnLst/>
                <a:rect l="l" t="t" r="r" b="b"/>
                <a:pathLst>
                  <a:path w="8650859" h="18424398">
                    <a:moveTo>
                      <a:pt x="7532370" y="18424398"/>
                    </a:moveTo>
                    <a:lnTo>
                      <a:pt x="1118489" y="18424398"/>
                    </a:lnTo>
                    <a:cubicBezTo>
                      <a:pt x="500761" y="18424398"/>
                      <a:pt x="0" y="17923636"/>
                      <a:pt x="0" y="17305910"/>
                    </a:cubicBezTo>
                    <a:lnTo>
                      <a:pt x="0" y="1118489"/>
                    </a:lnTo>
                    <a:cubicBezTo>
                      <a:pt x="0" y="500761"/>
                      <a:pt x="500761" y="0"/>
                      <a:pt x="1118489" y="0"/>
                    </a:cubicBezTo>
                    <a:lnTo>
                      <a:pt x="7532370" y="0"/>
                    </a:lnTo>
                    <a:cubicBezTo>
                      <a:pt x="8150098" y="0"/>
                      <a:pt x="8650859" y="500761"/>
                      <a:pt x="8650859" y="1118489"/>
                    </a:cubicBezTo>
                    <a:lnTo>
                      <a:pt x="8650859" y="17305910"/>
                    </a:lnTo>
                    <a:cubicBezTo>
                      <a:pt x="8650732" y="17923636"/>
                      <a:pt x="8150098" y="18424398"/>
                      <a:pt x="7532370" y="18424398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21081" r="-21081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0" y="0"/>
                <a:ext cx="94615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9461500" h="19050000">
                    <a:moveTo>
                      <a:pt x="94615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9461500" y="0"/>
                    </a:lnTo>
                    <a:lnTo>
                      <a:pt x="9461500" y="1905000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83" r="-83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36711" y="2752327"/>
              <a:ext cx="1920381" cy="1428576"/>
            </a:xfrm>
            <a:custGeom>
              <a:avLst/>
              <a:gdLst/>
              <a:ahLst/>
              <a:cxnLst/>
              <a:rect l="l" t="t" r="r" b="b"/>
              <a:pathLst>
                <a:path w="1920381" h="1428576">
                  <a:moveTo>
                    <a:pt x="0" y="0"/>
                  </a:moveTo>
                  <a:lnTo>
                    <a:pt x="1920381" y="0"/>
                  </a:lnTo>
                  <a:lnTo>
                    <a:pt x="1920381" y="1428576"/>
                  </a:lnTo>
                  <a:lnTo>
                    <a:pt x="0" y="1428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-34027" t="-477" r="-2425" b="-46265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Freeform 28"/>
            <p:cNvSpPr/>
            <p:nvPr/>
          </p:nvSpPr>
          <p:spPr>
            <a:xfrm rot="5400000">
              <a:off x="742305" y="15491"/>
              <a:ext cx="1202277" cy="1361865"/>
            </a:xfrm>
            <a:custGeom>
              <a:avLst/>
              <a:gdLst/>
              <a:ahLst/>
              <a:cxnLst/>
              <a:rect l="l" t="t" r="r" b="b"/>
              <a:pathLst>
                <a:path w="1202277" h="1361865">
                  <a:moveTo>
                    <a:pt x="0" y="0"/>
                  </a:moveTo>
                  <a:lnTo>
                    <a:pt x="1202277" y="0"/>
                  </a:lnTo>
                  <a:lnTo>
                    <a:pt x="1202277" y="1361865"/>
                  </a:lnTo>
                  <a:lnTo>
                    <a:pt x="0" y="13618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-18102" t="-18976" r="-12291" b="-3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969194" y="3407188"/>
            <a:ext cx="3592019" cy="3437350"/>
            <a:chOff x="0" y="0"/>
            <a:chExt cx="4789359" cy="4583134"/>
          </a:xfrm>
        </p:grpSpPr>
        <p:sp>
          <p:nvSpPr>
            <p:cNvPr id="30" name="Freeform 30"/>
            <p:cNvSpPr/>
            <p:nvPr/>
          </p:nvSpPr>
          <p:spPr>
            <a:xfrm>
              <a:off x="35231" y="3630633"/>
              <a:ext cx="4754128" cy="952500"/>
            </a:xfrm>
            <a:custGeom>
              <a:avLst/>
              <a:gdLst/>
              <a:ahLst/>
              <a:cxnLst/>
              <a:rect l="l" t="t" r="r" b="b"/>
              <a:pathLst>
                <a:path w="4754128" h="952500">
                  <a:moveTo>
                    <a:pt x="0" y="0"/>
                  </a:moveTo>
                  <a:lnTo>
                    <a:pt x="4754128" y="0"/>
                  </a:lnTo>
                  <a:lnTo>
                    <a:pt x="4754128" y="952501"/>
                  </a:lnTo>
                  <a:lnTo>
                    <a:pt x="0" y="952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50000"/>
              </a:blip>
              <a:stretch>
                <a:fillRect l="-12874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27561"/>
              <a:ext cx="3437952" cy="4529541"/>
              <a:chOff x="0" y="0"/>
              <a:chExt cx="877205" cy="115572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77205" cy="1155728"/>
              </a:xfrm>
              <a:custGeom>
                <a:avLst/>
                <a:gdLst/>
                <a:ahLst/>
                <a:cxnLst/>
                <a:rect l="l" t="t" r="r" b="b"/>
                <a:pathLst>
                  <a:path w="877205" h="1155728">
                    <a:moveTo>
                      <a:pt x="0" y="0"/>
                    </a:moveTo>
                    <a:lnTo>
                      <a:pt x="877205" y="0"/>
                    </a:lnTo>
                    <a:lnTo>
                      <a:pt x="877205" y="1155728"/>
                    </a:lnTo>
                    <a:lnTo>
                      <a:pt x="0" y="1155728"/>
                    </a:lnTo>
                    <a:close/>
                  </a:path>
                </a:pathLst>
              </a:custGeom>
              <a:solidFill>
                <a:srgbClr val="00C2E4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3" name="Freeform 33"/>
            <p:cNvSpPr/>
            <p:nvPr/>
          </p:nvSpPr>
          <p:spPr>
            <a:xfrm rot="-5400000">
              <a:off x="1381663" y="63597"/>
              <a:ext cx="2119885" cy="1992692"/>
            </a:xfrm>
            <a:custGeom>
              <a:avLst/>
              <a:gdLst/>
              <a:ahLst/>
              <a:cxnLst/>
              <a:rect l="l" t="t" r="r" b="b"/>
              <a:pathLst>
                <a:path w="2119885" h="1992692">
                  <a:moveTo>
                    <a:pt x="0" y="0"/>
                  </a:moveTo>
                  <a:lnTo>
                    <a:pt x="2119885" y="0"/>
                  </a:lnTo>
                  <a:lnTo>
                    <a:pt x="2119885" y="1992692"/>
                  </a:lnTo>
                  <a:lnTo>
                    <a:pt x="0" y="1992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-14348" t="-1602" r="-33590" b="-2430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3437952" cy="3610141"/>
            </a:xfrm>
            <a:custGeom>
              <a:avLst/>
              <a:gdLst/>
              <a:ahLst/>
              <a:cxnLst/>
              <a:rect l="l" t="t" r="r" b="b"/>
              <a:pathLst>
                <a:path w="3437952" h="3610141">
                  <a:moveTo>
                    <a:pt x="0" y="0"/>
                  </a:moveTo>
                  <a:lnTo>
                    <a:pt x="3437952" y="0"/>
                  </a:lnTo>
                  <a:lnTo>
                    <a:pt x="3437952" y="3610141"/>
                  </a:lnTo>
                  <a:lnTo>
                    <a:pt x="0" y="361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-17011" t="-20608" r="-5526" b="-32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15379" y="3754402"/>
              <a:ext cx="626227" cy="355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44"/>
                </a:lnSpc>
              </a:pPr>
              <a:r>
                <a:rPr lang="en-US" sz="1787" b="1">
                  <a:solidFill>
                    <a:srgbClr val="023E9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BPT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1381987" y="3676048"/>
              <a:ext cx="508040" cy="510826"/>
            </a:xfrm>
            <a:custGeom>
              <a:avLst/>
              <a:gdLst/>
              <a:ahLst/>
              <a:cxnLst/>
              <a:rect l="l" t="t" r="r" b="b"/>
              <a:pathLst>
                <a:path w="508040" h="510826">
                  <a:moveTo>
                    <a:pt x="0" y="0"/>
                  </a:moveTo>
                  <a:lnTo>
                    <a:pt x="508040" y="0"/>
                  </a:lnTo>
                  <a:lnTo>
                    <a:pt x="508040" y="510826"/>
                  </a:lnTo>
                  <a:lnTo>
                    <a:pt x="0" y="510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Freeform 37"/>
            <p:cNvSpPr/>
            <p:nvPr/>
          </p:nvSpPr>
          <p:spPr>
            <a:xfrm flipH="1">
              <a:off x="1071597" y="3676048"/>
              <a:ext cx="508040" cy="510826"/>
            </a:xfrm>
            <a:custGeom>
              <a:avLst/>
              <a:gdLst/>
              <a:ahLst/>
              <a:cxnLst/>
              <a:rect l="l" t="t" r="r" b="b"/>
              <a:pathLst>
                <a:path w="508040" h="510826">
                  <a:moveTo>
                    <a:pt x="508040" y="0"/>
                  </a:moveTo>
                  <a:lnTo>
                    <a:pt x="0" y="0"/>
                  </a:lnTo>
                  <a:lnTo>
                    <a:pt x="0" y="510826"/>
                  </a:lnTo>
                  <a:lnTo>
                    <a:pt x="508040" y="510826"/>
                  </a:lnTo>
                  <a:lnTo>
                    <a:pt x="50804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0352" y="1616922"/>
              <a:ext cx="2307694" cy="1388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25"/>
                </a:lnSpc>
                <a:spcBef>
                  <a:spcPct val="0"/>
                </a:spcBef>
              </a:pPr>
              <a:r>
                <a:rPr lang="en-US" sz="3437" b="1">
                  <a:solidFill>
                    <a:srgbClr val="023E9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Make it a habit!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080839" y="4742932"/>
            <a:ext cx="1488305" cy="2002204"/>
            <a:chOff x="0" y="0"/>
            <a:chExt cx="1984407" cy="2669606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984407" cy="2669606"/>
              <a:chOff x="0" y="0"/>
              <a:chExt cx="14160500" cy="1905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248918" y="3146933"/>
                <a:ext cx="10725785" cy="12979655"/>
              </a:xfrm>
              <a:custGeom>
                <a:avLst/>
                <a:gdLst/>
                <a:ahLst/>
                <a:cxnLst/>
                <a:rect l="l" t="t" r="r" b="b"/>
                <a:pathLst>
                  <a:path w="10725785" h="12979655">
                    <a:moveTo>
                      <a:pt x="8757412" y="12979655"/>
                    </a:moveTo>
                    <a:lnTo>
                      <a:pt x="1968373" y="12979655"/>
                    </a:lnTo>
                    <a:cubicBezTo>
                      <a:pt x="881253" y="12979655"/>
                      <a:pt x="0" y="12098402"/>
                      <a:pt x="0" y="11011282"/>
                    </a:cubicBezTo>
                    <a:lnTo>
                      <a:pt x="0" y="1968373"/>
                    </a:lnTo>
                    <a:cubicBezTo>
                      <a:pt x="0" y="881253"/>
                      <a:pt x="881253" y="0"/>
                      <a:pt x="1968373" y="0"/>
                    </a:cubicBezTo>
                    <a:lnTo>
                      <a:pt x="8757412" y="0"/>
                    </a:lnTo>
                    <a:cubicBezTo>
                      <a:pt x="9844532" y="0"/>
                      <a:pt x="10725785" y="881253"/>
                      <a:pt x="10725785" y="1968373"/>
                    </a:cubicBezTo>
                    <a:lnTo>
                      <a:pt x="10725785" y="11011407"/>
                    </a:lnTo>
                    <a:cubicBezTo>
                      <a:pt x="10725658" y="12098402"/>
                      <a:pt x="9844405" y="12979655"/>
                      <a:pt x="8757412" y="12979655"/>
                    </a:cubicBezTo>
                    <a:close/>
                  </a:path>
                </a:pathLst>
              </a:custGeom>
              <a:blipFill>
                <a:blip r:embed="rId19"/>
                <a:stretch>
                  <a:fillRect t="-1441" b="-23369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0" y="0"/>
                <a:ext cx="14160500" cy="19050000"/>
              </a:xfrm>
              <a:custGeom>
                <a:avLst/>
                <a:gdLst/>
                <a:ahLst/>
                <a:cxnLst/>
                <a:rect l="l" t="t" r="r" b="b"/>
                <a:pathLst>
                  <a:path w="14160500" h="19050000">
                    <a:moveTo>
                      <a:pt x="14160500" y="19050000"/>
                    </a:moveTo>
                    <a:lnTo>
                      <a:pt x="0" y="19050000"/>
                    </a:lnTo>
                    <a:lnTo>
                      <a:pt x="0" y="0"/>
                    </a:lnTo>
                    <a:lnTo>
                      <a:pt x="14160500" y="0"/>
                    </a:lnTo>
                    <a:lnTo>
                      <a:pt x="14160500" y="19050000"/>
                    </a:lnTo>
                    <a:close/>
                  </a:path>
                </a:pathLst>
              </a:custGeom>
              <a:blipFill>
                <a:blip r:embed="rId20"/>
                <a:stretch>
                  <a:fillRect l="-28" r="-28"/>
                </a:stretch>
              </a:blipFill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84759" y="451396"/>
              <a:ext cx="1483709" cy="1791186"/>
              <a:chOff x="0" y="0"/>
              <a:chExt cx="2335376" cy="281934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2335376" cy="2819349"/>
              </a:xfrm>
              <a:custGeom>
                <a:avLst/>
                <a:gdLst/>
                <a:ahLst/>
                <a:cxnLst/>
                <a:rect l="l" t="t" r="r" b="b"/>
                <a:pathLst>
                  <a:path w="2335376" h="2819349">
                    <a:moveTo>
                      <a:pt x="2030576" y="0"/>
                    </a:moveTo>
                    <a:lnTo>
                      <a:pt x="304800" y="0"/>
                    </a:lnTo>
                    <a:cubicBezTo>
                      <a:pt x="135890" y="0"/>
                      <a:pt x="0" y="135890"/>
                      <a:pt x="0" y="304800"/>
                    </a:cubicBezTo>
                    <a:lnTo>
                      <a:pt x="0" y="2514549"/>
                    </a:lnTo>
                    <a:cubicBezTo>
                      <a:pt x="0" y="2683459"/>
                      <a:pt x="135890" y="2819349"/>
                      <a:pt x="304800" y="2819349"/>
                    </a:cubicBezTo>
                    <a:lnTo>
                      <a:pt x="2030576" y="2819349"/>
                    </a:lnTo>
                    <a:cubicBezTo>
                      <a:pt x="2199486" y="2819349"/>
                      <a:pt x="2335376" y="2683459"/>
                      <a:pt x="2335376" y="2514549"/>
                    </a:cubicBezTo>
                    <a:lnTo>
                      <a:pt x="2335376" y="304800"/>
                    </a:lnTo>
                    <a:cubicBezTo>
                      <a:pt x="2335376" y="135890"/>
                      <a:pt x="2199486" y="0"/>
                      <a:pt x="2030576" y="0"/>
                    </a:cubicBezTo>
                    <a:close/>
                  </a:path>
                </a:pathLst>
              </a:custGeom>
              <a:solidFill>
                <a:srgbClr val="023E9F">
                  <a:alpha val="84706"/>
                </a:srgbClr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45" name="Freeform 45"/>
            <p:cNvSpPr/>
            <p:nvPr/>
          </p:nvSpPr>
          <p:spPr>
            <a:xfrm>
              <a:off x="841872" y="1017721"/>
              <a:ext cx="511674" cy="514481"/>
            </a:xfrm>
            <a:custGeom>
              <a:avLst/>
              <a:gdLst/>
              <a:ahLst/>
              <a:cxnLst/>
              <a:rect l="l" t="t" r="r" b="b"/>
              <a:pathLst>
                <a:path w="511674" h="514481">
                  <a:moveTo>
                    <a:pt x="0" y="0"/>
                  </a:moveTo>
                  <a:lnTo>
                    <a:pt x="511674" y="0"/>
                  </a:lnTo>
                  <a:lnTo>
                    <a:pt x="511674" y="514480"/>
                  </a:lnTo>
                  <a:lnTo>
                    <a:pt x="0" y="51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Freeform 46"/>
            <p:cNvSpPr/>
            <p:nvPr/>
          </p:nvSpPr>
          <p:spPr>
            <a:xfrm flipH="1">
              <a:off x="529261" y="1017721"/>
              <a:ext cx="511674" cy="514481"/>
            </a:xfrm>
            <a:custGeom>
              <a:avLst/>
              <a:gdLst/>
              <a:ahLst/>
              <a:cxnLst/>
              <a:rect l="l" t="t" r="r" b="b"/>
              <a:pathLst>
                <a:path w="511674" h="514481">
                  <a:moveTo>
                    <a:pt x="511674" y="0"/>
                  </a:moveTo>
                  <a:lnTo>
                    <a:pt x="0" y="0"/>
                  </a:lnTo>
                  <a:lnTo>
                    <a:pt x="0" y="514480"/>
                  </a:lnTo>
                  <a:lnTo>
                    <a:pt x="511674" y="514480"/>
                  </a:lnTo>
                  <a:lnTo>
                    <a:pt x="511674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0353" y="1609337"/>
              <a:ext cx="842100" cy="241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82"/>
                </a:lnSpc>
              </a:pPr>
              <a:r>
                <a:rPr lang="en-US" sz="1235" b="1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BPT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28700" y="1038225"/>
            <a:ext cx="3927050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b="1">
                <a:solidFill>
                  <a:srgbClr val="023E9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Train</a:t>
            </a:r>
          </a:p>
          <a:p>
            <a:pPr algn="l">
              <a:lnSpc>
                <a:spcPts val="6839"/>
              </a:lnSpc>
            </a:pPr>
            <a:r>
              <a:rPr lang="en-US" sz="5699" b="1">
                <a:solidFill>
                  <a:srgbClr val="023E9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    Smarter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913388" y="7900476"/>
            <a:ext cx="646122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305</Words>
  <Application>Microsoft Macintosh PowerPoint</Application>
  <PresentationFormat>사용자 지정</PresentationFormat>
  <Paragraphs>121</Paragraphs>
  <Slides>10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Noto Sans Kr Bold</vt:lpstr>
      <vt:lpstr>Freesentation 4 Regular</vt:lpstr>
      <vt:lpstr>Noto Sans Kr</vt:lpstr>
      <vt:lpstr>Freesentation 6 SemiBold</vt:lpstr>
      <vt:lpstr>Freesentation 7 Bold</vt:lpstr>
      <vt:lpstr>Freesentation 5 Medium</vt:lpstr>
      <vt:lpstr>Red Hat Display Bold</vt:lpstr>
      <vt:lpstr>Arial</vt:lpstr>
      <vt:lpstr>Freesentation 8 ExtraBold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BPT계획발표</dc:title>
  <cp:lastModifiedBy>서진정</cp:lastModifiedBy>
  <cp:revision>4</cp:revision>
  <dcterms:created xsi:type="dcterms:W3CDTF">2006-08-16T00:00:00Z</dcterms:created>
  <dcterms:modified xsi:type="dcterms:W3CDTF">2026-03-09T13:21:43Z</dcterms:modified>
  <dc:identifier>DAHDVlvzFA4</dc:identifier>
</cp:coreProperties>
</file>